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DMK 2021</c:v>
                </c:pt>
              </c:strCache>
            </c:strRef>
          </c:tx>
          <c:spPr>
            <a:pattFill prst="sphere">
              <a:fgClr>
                <a:srgbClr val="3B82F6"/>
              </a:fgClr>
              <a:bgClr>
                <a:schemeClr val="bg1"/>
              </a:bgClr>
            </a:patt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Chennai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19</c:v>
                </c:pt>
                <c:pt idx="2">
                  <c:v>21</c:v>
                </c:pt>
                <c:pt idx="3">
                  <c:v>10</c:v>
                </c:pt>
                <c:pt idx="4">
                  <c:v>23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5E-49E1-97B1-31D2300CCC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TVK 2026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Chennai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</c:v>
                </c:pt>
                <c:pt idx="1">
                  <c:v>15</c:v>
                </c:pt>
                <c:pt idx="2">
                  <c:v>12</c:v>
                </c:pt>
                <c:pt idx="3">
                  <c:v>16</c:v>
                </c:pt>
                <c:pt idx="4">
                  <c:v>10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5E-49E1-97B1-31D2300CCC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AIADMK 2026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Chennai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15</c:v>
                </c:pt>
                <c:pt idx="2">
                  <c:v>15</c:v>
                </c:pt>
                <c:pt idx="3">
                  <c:v>7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5E-49E1-97B1-31D2300CCC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5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legend>
      <c:legendPos val="t"/>
      <c:legendEntry>
        <c:idx val="0"/>
        <c:txPr>
          <a:bodyPr/>
          <a:lstStyle/>
          <a:p>
            <a:pPr>
              <a:defRPr sz="1000">
                <a:gradFill>
                  <a:gsLst>
                    <a:gs pos="0">
                      <a:schemeClr val="accent1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000">
                <a:solidFill>
                  <a:schemeClr val="accent1">
                    <a:lumMod val="60000"/>
                    <a:lumOff val="40000"/>
                  </a:schemeClr>
                </a:solidFill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>
              <a:defRPr sz="1000">
                <a:solidFill>
                  <a:schemeClr val="accent1">
                    <a:lumMod val="60000"/>
                    <a:lumOff val="40000"/>
                  </a:schemeClr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 Share 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TVK</c:v>
                </c:pt>
                <c:pt idx="1">
                  <c:v>DMK</c:v>
                </c:pt>
                <c:pt idx="2">
                  <c:v>AIADMK</c:v>
                </c:pt>
                <c:pt idx="3">
                  <c:v>INC</c:v>
                </c:pt>
                <c:pt idx="4">
                  <c:v>BJP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34.9</c:v>
                </c:pt>
                <c:pt idx="1">
                  <c:v>24.2</c:v>
                </c:pt>
                <c:pt idx="2">
                  <c:v>21.2</c:v>
                </c:pt>
                <c:pt idx="3">
                  <c:v>3.4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6C-4A4D-BEA4-D5DBD153EC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Seat Share %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TVK</c:v>
                </c:pt>
                <c:pt idx="1">
                  <c:v>DMK</c:v>
                </c:pt>
                <c:pt idx="2">
                  <c:v>AIADMK</c:v>
                </c:pt>
                <c:pt idx="3">
                  <c:v>INC</c:v>
                </c:pt>
                <c:pt idx="4">
                  <c:v>BJP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46.2</c:v>
                </c:pt>
                <c:pt idx="1">
                  <c:v>25.2</c:v>
                </c:pt>
                <c:pt idx="2">
                  <c:v>20.100000000000001</c:v>
                </c:pt>
                <c:pt idx="3">
                  <c:v>2.1</c:v>
                </c:pt>
                <c:pt idx="4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6C-4A4D-BEA4-D5DBD153EC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1E25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accent4">
                  <a:lumMod val="60000"/>
                  <a:lumOff val="40000"/>
                </a:schemeClr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Margin (votes)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TVK</c:v>
                </c:pt>
                <c:pt idx="1">
                  <c:v>DMK</c:v>
                </c:pt>
                <c:pt idx="2">
                  <c:v>AIADMK</c:v>
                </c:pt>
                <c:pt idx="3">
                  <c:v>INC</c:v>
                </c:pt>
                <c:pt idx="4">
                  <c:v>PMK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18200</c:v>
                </c:pt>
                <c:pt idx="1">
                  <c:v>19500</c:v>
                </c:pt>
                <c:pt idx="2">
                  <c:v>12400</c:v>
                </c:pt>
                <c:pt idx="3">
                  <c:v>14800</c:v>
                </c:pt>
                <c:pt idx="4">
                  <c:v>11200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4-42FC-A1E9-B11B8F1F43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5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821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89888"/>
            <a:ext cx="50292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800" dirty="0">
                <a:solidFill>
                  <a:srgbClr val="8B949E"/>
                </a:solidFill>
                <a:latin typeface="Eras Bold ITC" panose="020B0907030504020204" pitchFamily="34" charset="0"/>
              </a:rPr>
              <a:t>DECODING THE</a:t>
            </a:r>
            <a:endParaRPr lang="en-US" sz="2000" dirty="0">
              <a:latin typeface="Eras Bold ITC" panose="020B09070305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F6FC"/>
                </a:solidFill>
              </a:rPr>
              <a:t>2026 TAMIL NADU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7316"/>
                </a:solidFill>
              </a:rPr>
              <a:t>ASSEMBLY ELECTION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A fact-based data analysis for AtliQ Media · 234 constituencies · ECI data only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651760" cy="50292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01  THE FLIP 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931920"/>
            <a:ext cx="2651760" cy="502920"/>
          </a:xfrm>
          <a:prstGeom prst="rect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02  THE VOTE SHARE 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651760" cy="50292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</a:rPr>
              <a:t>03  THE MARGIN 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Non-partisan analysis · Public ECI data only · Codebasics Resume Project Challenge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8B949E"/>
                </a:solidFill>
              </a:rPr>
              <a:t>THE DATA BEHIND THE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</a:rPr>
              <a:t>Three files. One election. 4,257 rows.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78638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</a:rPr>
              <a:t>tn_2021_results.csv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56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Trivedi Centre for Political Data, Ashoka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82F6"/>
                </a:solidFill>
              </a:rPr>
              <a:t>4,232 rows · 8 columns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6090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</a:rPr>
              <a:t>tn_2026_results.csv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008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Election Commission of India (results.eci.gov.in)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4,257 rows · 8 columns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4864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124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</a:rPr>
              <a:t>constituency_master.csv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0599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ECI constituency master list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97316"/>
                </a:solidFill>
              </a:rPr>
              <a:t>234 rows — regions, districts, reservation status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All analysis is reproducible in the public GitHub notebook · tn_election_analysis.ipynb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97316"/>
                </a:solidFill>
                <a:latin typeface="Arial Black" panose="020B0A04020102020204" pitchFamily="34" charset="0"/>
              </a:rPr>
              <a:t>STORY</a:t>
            </a:r>
            <a:r>
              <a:rPr lang="en-US" sz="1100" b="1" kern="0" spc="800" dirty="0">
                <a:solidFill>
                  <a:srgbClr val="F97316"/>
                </a:solidFill>
                <a:latin typeface="Bahnschrift" panose="020B0502040204020203" pitchFamily="34" charset="0"/>
              </a:rPr>
              <a:t>  01</a:t>
            </a:r>
            <a:endParaRPr lang="en-US" sz="11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C"/>
                </a:solidFill>
              </a:rPr>
              <a:t>163 of 234 seats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0F6FC"/>
                </a:solidFill>
              </a:rPr>
              <a:t>changed hands.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949E"/>
                </a:solidFill>
              </a:rPr>
              <a:t>70% of Tamil Nadu's political map was redrawn in a single election.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605194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6153834" y="2651760"/>
            <a:ext cx="2441526" cy="50292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18688"/>
            <a:ext cx="5605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163 FLIPPED  (70%)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53834" y="3218688"/>
            <a:ext cx="2441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71 HELD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</a:rPr>
              <a:t>Top flip flows: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5087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DMK → TVK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67128" y="3931920"/>
            <a:ext cx="15087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2167128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67128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AIADMK → TVK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85616" y="3931920"/>
            <a:ext cx="15087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3785616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85616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DMK → AIADMK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04104" y="3931920"/>
            <a:ext cx="15087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5404104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15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04104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AIADMK → DMK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22592" y="3931920"/>
            <a:ext cx="15087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7022592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11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22592" y="4251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INC → TVK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773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4C56"/>
                </a:solidFill>
              </a:rPr>
              <a:t>Source: ECI · tn_2021_results.csv &amp; tn_2026_results.csv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F97316"/>
                </a:solidFill>
              </a:rPr>
              <a:t>STORY  01  ·  THE FLIP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</a:rPr>
              <a:t>Every region flipped. Chennai Metro most completely.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47301569"/>
              </p:ext>
            </p:extLst>
          </p:nvPr>
        </p:nvGraphicFramePr>
        <p:xfrm>
          <a:off x="457200" y="1234440"/>
          <a:ext cx="8229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DMK held Chennai Metro, but TVK matched it seat-for-seat · AIADMK resurged in North &amp; Central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14B8A6"/>
                </a:solidFill>
              </a:rPr>
              <a:t>STORY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6FC"/>
                </a:solidFill>
              </a:rPr>
              <a:t>TVK debuted at 34.9% —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0F6FC"/>
                </a:solidFill>
              </a:rPr>
              <a:t>ahead of both DMK and AIADMK.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</a:rPr>
              <a:t>A party that did not exist in 2021 became Tamil Nadu's single largest vote-getter in 2026.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808305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28083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TVK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862072"/>
            <a:ext cx="280830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34.9%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6945" y="2606040"/>
            <a:ext cx="194730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356945" y="2606040"/>
            <a:ext cx="19473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DMK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56945" y="2862072"/>
            <a:ext cx="194730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24.2%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4252" y="2606040"/>
            <a:ext cx="1705905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304252" y="2606040"/>
            <a:ext cx="17059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AIADMK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4252" y="2862072"/>
            <a:ext cx="170590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21.2%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10156" y="2606040"/>
            <a:ext cx="321869" cy="502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32025" y="2606040"/>
            <a:ext cx="273588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05613" y="2606040"/>
            <a:ext cx="241402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7847015" y="2606040"/>
            <a:ext cx="748345" cy="5029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8" name="Text 16"/>
          <p:cNvSpPr/>
          <p:nvPr/>
        </p:nvSpPr>
        <p:spPr>
          <a:xfrm>
            <a:off x="7847015" y="2606040"/>
            <a:ext cx="7483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Oth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47015" y="2862072"/>
            <a:ext cx="74834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</a:rPr>
              <a:t>9.3%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2021 vote share for reference: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3033613" cy="365760"/>
          </a:xfrm>
          <a:prstGeom prst="rect">
            <a:avLst/>
          </a:prstGeom>
          <a:solidFill>
            <a:srgbClr val="3B82F6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11880"/>
            <a:ext cx="3033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6FC"/>
                </a:solidFill>
              </a:rPr>
              <a:t>DMK 37.7%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82253" y="3611880"/>
            <a:ext cx="2679558" cy="365760"/>
          </a:xfrm>
          <a:prstGeom prst="rect">
            <a:avLst/>
          </a:prstGeom>
          <a:solidFill>
            <a:srgbClr val="6366F1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582253" y="3611880"/>
            <a:ext cx="2679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6FC"/>
                </a:solidFill>
              </a:rPr>
              <a:t>AIADMK 33.3%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1811" y="3611880"/>
            <a:ext cx="531084" cy="36576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61811" y="3611880"/>
            <a:ext cx="531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6FC"/>
                </a:solidFill>
              </a:rPr>
              <a:t>NTK 6.6%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92895" y="3611880"/>
            <a:ext cx="346009" cy="365760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138904" y="3611880"/>
            <a:ext cx="1456456" cy="365760"/>
          </a:xfrm>
          <a:prstGeom prst="rect">
            <a:avLst/>
          </a:prstGeom>
          <a:solidFill>
            <a:srgbClr val="374151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138904" y="3611880"/>
            <a:ext cx="145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6FC"/>
                </a:solidFill>
              </a:rPr>
              <a:t>Oth 18.1%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DMK lost 13.5 points · AIADMK lost 12.1 points · The votes moved — overwhelmingly — to TVK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773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4C56"/>
                </a:solidFill>
              </a:rPr>
              <a:t>Source: ECI · All-constituency vote totals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4B8A6"/>
                </a:solidFill>
              </a:rPr>
              <a:t>STORY  02  ·  THE VOTE SHARE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</a:rPr>
              <a:t>More votes, but seat share tells a different tale.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450537107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TVK's vote-to-seat conversion was highest — 34.9% of votes → 46.2% of seats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3B82F6"/>
                </a:solidFill>
              </a:rPr>
              <a:t>STORY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6FC"/>
                </a:solidFill>
              </a:rPr>
              <a:t>Winning got harder.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0F6FC"/>
                </a:solidFill>
              </a:rPr>
              <a:t>Average margin fell 27%.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56032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14884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</a:rPr>
              <a:t>22,871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055925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Avg winning margin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2021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256032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2148840"/>
            <a:ext cx="25603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2860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7316"/>
                </a:solidFill>
              </a:rPr>
              <a:t>16,784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83280" y="3055925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Avg winning margin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56032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2148840"/>
            <a:ext cx="25603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2860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</a:rPr>
              <a:t>−26.6%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3055925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Change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avg margin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4023360" cy="1234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4023360" cy="3657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0480"/>
            <a:ext cx="3840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AB308"/>
                </a:solidFill>
              </a:rPr>
              <a:t>64 seats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48640" y="4468673"/>
            <a:ext cx="3840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Winner got &lt; 35% of valid votes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(multi-cornered contests)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703320"/>
            <a:ext cx="4023360" cy="1234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703320"/>
            <a:ext cx="40233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840480"/>
            <a:ext cx="3840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</a:rPr>
              <a:t>13 seats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754880" y="4468673"/>
            <a:ext cx="3840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Winner got &gt; 50% of valid votes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(dominant wins)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919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4C56"/>
                </a:solidFill>
              </a:rPr>
              <a:t>Source: ECI · Constituency-level vote totals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3B82F6"/>
                </a:solidFill>
              </a:rPr>
              <a:t>STORY  03  ·  THE MARGIN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</a:rPr>
              <a:t>A three-party race compressed margins everywhere.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In 64 of 234 seats, the winner crossed the line with less than 35% of the vote — a sign of how much TVK split existing coalitions.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0" dirty="0">
                <a:solidFill>
                  <a:srgbClr val="F97316"/>
                </a:solidFill>
              </a:rPr>
              <a:t>EDITORIAL RECOMMENDATION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</a:rPr>
              <a:t>For AtliQ Media: structure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</a:rPr>
              <a:t>the show around three acts.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ACT 1  ·  The Map Redrawn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Open with the flip visual. 163/234 seats changed hands. It's the biggest hook — a viewer who's lived in TN for 30 years has never seen 70% of the map flip.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71800"/>
            <a:ext cx="78638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ACT 2  ·  The New Vote Math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192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Show TVK at 34.9% — higher than DMK in 2021. The split-vote story in 64 seats explains why vote share ≠ seat dominance.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ACT 3  ·  The Closer Contest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2793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End with the margin story. Margins fell 27%. This election was mathematically tighter than 2021 despite appearing decisive on the seat count.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0" dirty="0">
                <a:solidFill>
                  <a:srgbClr val="8B949E"/>
                </a:solidFill>
              </a:rPr>
              <a:t>HONESTY ABOUT </a:t>
            </a:r>
            <a:r>
              <a:rPr lang="en-US" sz="1900" b="1" kern="0" spc="700" dirty="0">
                <a:solidFill>
                  <a:srgbClr val="8B949E"/>
                </a:solidFill>
              </a:rPr>
              <a:t>LIMITATIONS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</a:rPr>
              <a:t>What this data can — and cannot — tell you.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39319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  Data CAN answer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</a:rPr>
              <a:t>Count seats won and lost by party, 2021 vs 2026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</a:rPr>
              <a:t>Measure vote share and its change at state and region level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</a:rPr>
              <a:t>Calculate winning margins and how they shifted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</a:rPr>
              <a:t>Identify which constituency categories (SC/ST/GEN) moved differently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417320"/>
            <a:ext cx="39319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  Data CANNOT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</a:rPr>
              <a:t>Explain why any party won or lost (causal claims require survey data)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</a:rPr>
              <a:t>Attribute vote movement to specific demographic groups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</a:rPr>
              <a:t>Predict future elections from this data alone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49E"/>
                </a:solidFill>
              </a:rPr>
              <a:t>Verify 2026 turnout figures (intentionally excluded from dataset)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C56"/>
                </a:solidFill>
              </a:rPr>
              <a:t>Non-partisan analysis · No leaders, symbols, or opinions · Codebasics Resume Project Challenge · Public ECI data only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721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Bahnschrift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the 2026 Tamil Nadu Assembly Election</dc:title>
  <dc:subject>PptxGenJS Presentation</dc:subject>
  <dc:creator>PptxGenJS</dc:creator>
  <cp:lastModifiedBy>Priya Methre</cp:lastModifiedBy>
  <cp:revision>3</cp:revision>
  <dcterms:created xsi:type="dcterms:W3CDTF">2026-05-27T07:01:28Z</dcterms:created>
  <dcterms:modified xsi:type="dcterms:W3CDTF">2026-05-27T08:13:52Z</dcterms:modified>
</cp:coreProperties>
</file>