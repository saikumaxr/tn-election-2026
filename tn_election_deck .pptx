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inzel" panose="020B0604020202020204" charset="0"/>
      <p:regular r:id="rId13"/>
    </p:embeddedFont>
    <p:embeddedFont>
      <p:font typeface="Cinzel Bold" panose="020B0604020202020204" charset="0"/>
      <p:regular r:id="rId14"/>
    </p:embeddedFont>
    <p:embeddedFont>
      <p:font typeface="Cinzel Decorative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2779776"/>
            <a:ext cx="10058400" cy="146304"/>
            <a:chOff x="0" y="0"/>
            <a:chExt cx="13411200" cy="1950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11200" cy="195072"/>
            </a:xfrm>
            <a:custGeom>
              <a:avLst/>
              <a:gdLst/>
              <a:ahLst/>
              <a:cxnLst/>
              <a:rect l="l" t="t" r="r" b="b"/>
              <a:pathLst>
                <a:path w="13411200" h="195072">
                  <a:moveTo>
                    <a:pt x="0" y="0"/>
                  </a:moveTo>
                  <a:lnTo>
                    <a:pt x="13411200" y="0"/>
                  </a:lnTo>
                  <a:lnTo>
                    <a:pt x="13411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7280" y="1645920"/>
            <a:ext cx="16093440" cy="1280160"/>
            <a:chOff x="0" y="0"/>
            <a:chExt cx="21457920" cy="170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457920" cy="170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000" b="1" spc="1600">
                  <a:solidFill>
                    <a:srgbClr val="FFFFFF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DECODING THE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7280" y="2651760"/>
            <a:ext cx="16459200" cy="2115617"/>
            <a:chOff x="0" y="0"/>
            <a:chExt cx="21945600" cy="28208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2820822"/>
            </a:xfrm>
            <a:custGeom>
              <a:avLst/>
              <a:gdLst/>
              <a:ahLst/>
              <a:cxnLst/>
              <a:rect l="l" t="t" r="r" b="b"/>
              <a:pathLst>
                <a:path w="21945600" h="2820822">
                  <a:moveTo>
                    <a:pt x="0" y="0"/>
                  </a:moveTo>
                  <a:lnTo>
                    <a:pt x="21945600" y="0"/>
                  </a:lnTo>
                  <a:lnTo>
                    <a:pt x="21945600" y="2820822"/>
                  </a:lnTo>
                  <a:lnTo>
                    <a:pt x="0" y="2820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47" b="-9913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945600" cy="28208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960"/>
                </a:lnSpc>
              </a:pPr>
              <a:r>
                <a:rPr lang="en-US" sz="108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2026 TAMIL NADU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7280" y="4480560"/>
            <a:ext cx="16459200" cy="1645920"/>
            <a:chOff x="0" y="0"/>
            <a:chExt cx="21945600" cy="2194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194560"/>
            </a:xfrm>
            <a:custGeom>
              <a:avLst/>
              <a:gdLst/>
              <a:ahLst/>
              <a:cxnLst/>
              <a:rect l="l" t="t" r="r" b="b"/>
              <a:pathLst>
                <a:path w="21945600" h="219456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45600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ASSEMBLY ELECTION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7280" y="6583680"/>
            <a:ext cx="16093440" cy="731520"/>
            <a:chOff x="0" y="0"/>
            <a:chExt cx="21457920" cy="975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14579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A fact-based data analysis for AtliQ Media · 234 constituencies · ECI data only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7280" y="7863840"/>
            <a:ext cx="5303520" cy="1005840"/>
            <a:chOff x="0" y="0"/>
            <a:chExt cx="7071360" cy="1341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7863840"/>
            <a:ext cx="5303520" cy="1005840"/>
            <a:chOff x="0" y="0"/>
            <a:chExt cx="7071360" cy="1341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0713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01  THE FLIP STORY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66560" y="7863840"/>
            <a:ext cx="5303520" cy="1005840"/>
            <a:chOff x="0" y="0"/>
            <a:chExt cx="7071360" cy="1341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4B8A6">
                <a:alpha val="3922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766560" y="7863840"/>
            <a:ext cx="5303520" cy="1005840"/>
            <a:chOff x="0" y="0"/>
            <a:chExt cx="7071360" cy="1341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70713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4B8A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02  THE VOTE SHARE STORY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35840" y="7863840"/>
            <a:ext cx="5303520" cy="1005840"/>
            <a:chOff x="0" y="0"/>
            <a:chExt cx="7071360" cy="134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B82F6">
                <a:alpha val="3922"/>
              </a:srgbClr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435840" y="7863840"/>
            <a:ext cx="5303520" cy="1005840"/>
            <a:chOff x="0" y="0"/>
            <a:chExt cx="7071360" cy="13411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707136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3B82F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03  THE MARGIN STORY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7280" y="9509760"/>
            <a:ext cx="16093440" cy="457200"/>
            <a:chOff x="0" y="0"/>
            <a:chExt cx="21457920" cy="6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2145792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Non-partisan analysis · Public ECI data only · Codebasics Resume Project Challenge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914400"/>
            <a:chOff x="0" y="0"/>
            <a:chExt cx="21457920" cy="1219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219200"/>
            </a:xfrm>
            <a:custGeom>
              <a:avLst/>
              <a:gdLst/>
              <a:ahLst/>
              <a:cxnLst/>
              <a:rect l="l" t="t" r="r" b="b"/>
              <a:pathLst>
                <a:path w="21457920" h="121920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 spc="1418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THE DATA BEHIND THE STORY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280160"/>
            <a:ext cx="16093440" cy="1371600"/>
            <a:chOff x="0" y="0"/>
            <a:chExt cx="21457920" cy="182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1828800"/>
            </a:xfrm>
            <a:custGeom>
              <a:avLst/>
              <a:gdLst/>
              <a:ahLst/>
              <a:cxnLst/>
              <a:rect l="l" t="t" r="r" b="b"/>
              <a:pathLst>
                <a:path w="21457920" h="182880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624" b="-17862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457920" cy="1819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440"/>
                </a:lnSpc>
              </a:pPr>
              <a:r>
                <a:rPr lang="en-US" sz="6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Three files. One election. 4,257 rows.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7280" y="3108960"/>
            <a:ext cx="109728" cy="1554480"/>
            <a:chOff x="0" y="0"/>
            <a:chExt cx="146304" cy="2072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80160" y="3108960"/>
            <a:ext cx="15727680" cy="1554480"/>
            <a:chOff x="0" y="0"/>
            <a:chExt cx="20970240" cy="2072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45920" y="3218688"/>
            <a:ext cx="12801600" cy="694944"/>
            <a:chOff x="0" y="0"/>
            <a:chExt cx="17068800" cy="9265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068800" cy="926592"/>
            </a:xfrm>
            <a:custGeom>
              <a:avLst/>
              <a:gdLst/>
              <a:ahLst/>
              <a:cxnLst/>
              <a:rect l="l" t="t" r="r" b="b"/>
              <a:pathLst>
                <a:path w="17068800" h="926592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34" b="-30893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70688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tn_2021_results.csv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5920" y="3913632"/>
            <a:ext cx="10058400" cy="512064"/>
            <a:chOff x="0" y="0"/>
            <a:chExt cx="13411200" cy="6827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11200" cy="682752"/>
            </a:xfrm>
            <a:custGeom>
              <a:avLst/>
              <a:gdLst/>
              <a:ahLst/>
              <a:cxnLst/>
              <a:rect l="l" t="t" r="r" b="b"/>
              <a:pathLst>
                <a:path w="13411200" h="682752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741" b="-33274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4112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Trivedi Centre for Political Data, Ashoka University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87200" y="3621024"/>
            <a:ext cx="4572000" cy="512064"/>
            <a:chOff x="0" y="0"/>
            <a:chExt cx="6096000" cy="6827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96000" cy="682752"/>
            </a:xfrm>
            <a:custGeom>
              <a:avLst/>
              <a:gdLst/>
              <a:ahLst/>
              <a:cxnLst/>
              <a:rect l="l" t="t" r="r" b="b"/>
              <a:pathLst>
                <a:path w="6096000" h="682752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973" b="-12397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0960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inzel"/>
                  <a:ea typeface="Cinzel"/>
                  <a:cs typeface="Cinzel"/>
                  <a:sym typeface="Cinzel"/>
                </a:rPr>
                <a:t>4,232 rows · 8 columns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5212080"/>
            <a:ext cx="109728" cy="1554480"/>
            <a:chOff x="0" y="0"/>
            <a:chExt cx="146304" cy="2072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80160" y="5212080"/>
            <a:ext cx="15727680" cy="1554480"/>
            <a:chOff x="0" y="0"/>
            <a:chExt cx="20970240" cy="2072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5321808"/>
            <a:ext cx="12801600" cy="694944"/>
            <a:chOff x="0" y="0"/>
            <a:chExt cx="1706880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068800" cy="926592"/>
            </a:xfrm>
            <a:custGeom>
              <a:avLst/>
              <a:gdLst/>
              <a:ahLst/>
              <a:cxnLst/>
              <a:rect l="l" t="t" r="r" b="b"/>
              <a:pathLst>
                <a:path w="17068800" h="926592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34" b="-30893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70688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tn_2026_results.csv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45920" y="6016752"/>
            <a:ext cx="10058400" cy="512064"/>
            <a:chOff x="0" y="0"/>
            <a:chExt cx="13411200" cy="68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411200" cy="682752"/>
            </a:xfrm>
            <a:custGeom>
              <a:avLst/>
              <a:gdLst/>
              <a:ahLst/>
              <a:cxnLst/>
              <a:rect l="l" t="t" r="r" b="b"/>
              <a:pathLst>
                <a:path w="13411200" h="682752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741" b="-33274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34112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Election Commission of India (results.eci.gov.in)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87200" y="5724144"/>
            <a:ext cx="4572000" cy="512064"/>
            <a:chOff x="0" y="0"/>
            <a:chExt cx="6096000" cy="6827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96000" cy="682752"/>
            </a:xfrm>
            <a:custGeom>
              <a:avLst/>
              <a:gdLst/>
              <a:ahLst/>
              <a:cxnLst/>
              <a:rect l="l" t="t" r="r" b="b"/>
              <a:pathLst>
                <a:path w="6096000" h="682752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973" b="-12397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60960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14B8A6"/>
                  </a:solidFill>
                  <a:latin typeface="Cinzel"/>
                  <a:ea typeface="Cinzel"/>
                  <a:cs typeface="Cinzel"/>
                  <a:sym typeface="Cinzel"/>
                </a:rPr>
                <a:t>4,257 rows · 8 columns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7280" y="7315200"/>
            <a:ext cx="109728" cy="1554480"/>
            <a:chOff x="0" y="0"/>
            <a:chExt cx="146304" cy="2072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80160" y="7315200"/>
            <a:ext cx="15727680" cy="1554480"/>
            <a:chOff x="0" y="0"/>
            <a:chExt cx="20970240" cy="2072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645920" y="7424928"/>
            <a:ext cx="12801600" cy="694944"/>
            <a:chOff x="0" y="0"/>
            <a:chExt cx="1706880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068800" cy="926592"/>
            </a:xfrm>
            <a:custGeom>
              <a:avLst/>
              <a:gdLst/>
              <a:ahLst/>
              <a:cxnLst/>
              <a:rect l="l" t="t" r="r" b="b"/>
              <a:pathLst>
                <a:path w="17068800" h="926592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34" b="-30893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706880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constituency_master.csv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45920" y="8119872"/>
            <a:ext cx="10058400" cy="512064"/>
            <a:chOff x="0" y="0"/>
            <a:chExt cx="13411200" cy="68275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411200" cy="682752"/>
            </a:xfrm>
            <a:custGeom>
              <a:avLst/>
              <a:gdLst/>
              <a:ahLst/>
              <a:cxnLst/>
              <a:rect l="l" t="t" r="r" b="b"/>
              <a:pathLst>
                <a:path w="13411200" h="682752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741" b="-33274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34112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ECI constituency master list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87200" y="7827264"/>
            <a:ext cx="4572000" cy="678942"/>
            <a:chOff x="0" y="0"/>
            <a:chExt cx="6096000" cy="9052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096000" cy="905256"/>
            </a:xfrm>
            <a:custGeom>
              <a:avLst/>
              <a:gdLst/>
              <a:ahLst/>
              <a:cxnLst/>
              <a:rect l="l" t="t" r="r" b="b"/>
              <a:pathLst>
                <a:path w="6096000" h="905256">
                  <a:moveTo>
                    <a:pt x="0" y="0"/>
                  </a:moveTo>
                  <a:lnTo>
                    <a:pt x="6096000" y="0"/>
                  </a:lnTo>
                  <a:lnTo>
                    <a:pt x="6096000" y="905256"/>
                  </a:lnTo>
                  <a:lnTo>
                    <a:pt x="0" y="905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01" b="-6892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6096000" cy="90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97316"/>
                  </a:solidFill>
                  <a:latin typeface="Cinzel"/>
                  <a:ea typeface="Cinzel"/>
                  <a:cs typeface="Cinzel"/>
                  <a:sym typeface="Cinzel"/>
                </a:rPr>
                <a:t>234 rows — regions, districts, reservation status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97280" y="9509760"/>
            <a:ext cx="16093440" cy="457200"/>
            <a:chOff x="0" y="0"/>
            <a:chExt cx="21457920" cy="609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21457920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All analysis is reproducible in the public GitHub notebook · tn_election_analysis.ipynb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731520"/>
            <a:chOff x="0" y="0"/>
            <a:chExt cx="21457920" cy="975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1599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STORY  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188720"/>
            <a:ext cx="16093440" cy="3055925"/>
            <a:chOff x="0" y="0"/>
            <a:chExt cx="21457920" cy="40745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4074566"/>
            </a:xfrm>
            <a:custGeom>
              <a:avLst/>
              <a:gdLst/>
              <a:ahLst/>
              <a:cxnLst/>
              <a:rect l="l" t="t" r="r" b="b"/>
              <a:pathLst>
                <a:path w="21457920" h="4074566">
                  <a:moveTo>
                    <a:pt x="0" y="0"/>
                  </a:moveTo>
                  <a:lnTo>
                    <a:pt x="21457920" y="0"/>
                  </a:lnTo>
                  <a:lnTo>
                    <a:pt x="21457920" y="4074566"/>
                  </a:lnTo>
                  <a:lnTo>
                    <a:pt x="0" y="40745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730" b="-4749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457920" cy="40745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560"/>
                </a:lnSpc>
              </a:pPr>
              <a:r>
                <a:rPr lang="en-US" sz="88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163 of 234 seats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changed hands.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7280" y="3840480"/>
            <a:ext cx="16093440" cy="1005840"/>
            <a:chOff x="0" y="0"/>
            <a:chExt cx="2145792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1457920" cy="1331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70% of Tamil Nadu's political map was redrawn in a single election.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5303520"/>
            <a:ext cx="11210392" cy="1005840"/>
            <a:chOff x="0" y="0"/>
            <a:chExt cx="14947189" cy="1341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7137" cy="1341120"/>
            </a:xfrm>
            <a:custGeom>
              <a:avLst/>
              <a:gdLst/>
              <a:ahLst/>
              <a:cxnLst/>
              <a:rect l="l" t="t" r="r" b="b"/>
              <a:pathLst>
                <a:path w="14947137" h="1341120">
                  <a:moveTo>
                    <a:pt x="0" y="0"/>
                  </a:moveTo>
                  <a:lnTo>
                    <a:pt x="14947137" y="0"/>
                  </a:lnTo>
                  <a:lnTo>
                    <a:pt x="14947137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307672" y="5303520"/>
            <a:ext cx="4883048" cy="1005840"/>
            <a:chOff x="0" y="0"/>
            <a:chExt cx="6510731" cy="1341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10782" cy="1341120"/>
            </a:xfrm>
            <a:custGeom>
              <a:avLst/>
              <a:gdLst/>
              <a:ahLst/>
              <a:cxnLst/>
              <a:rect l="l" t="t" r="r" b="b"/>
              <a:pathLst>
                <a:path w="6510782" h="1341120">
                  <a:moveTo>
                    <a:pt x="0" y="0"/>
                  </a:moveTo>
                  <a:lnTo>
                    <a:pt x="6510782" y="0"/>
                  </a:lnTo>
                  <a:lnTo>
                    <a:pt x="651078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A304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97280" y="6437376"/>
            <a:ext cx="11210392" cy="548640"/>
            <a:chOff x="0" y="0"/>
            <a:chExt cx="14947189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947184" cy="731520"/>
            </a:xfrm>
            <a:custGeom>
              <a:avLst/>
              <a:gdLst/>
              <a:ahLst/>
              <a:cxnLst/>
              <a:rect l="l" t="t" r="r" b="b"/>
              <a:pathLst>
                <a:path w="14947184" h="731520">
                  <a:moveTo>
                    <a:pt x="0" y="0"/>
                  </a:moveTo>
                  <a:lnTo>
                    <a:pt x="14947184" y="0"/>
                  </a:lnTo>
                  <a:lnTo>
                    <a:pt x="149471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8138" b="-34813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4947189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163 FLIPPED  (70%)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07672" y="6437376"/>
            <a:ext cx="4883048" cy="548640"/>
            <a:chOff x="0" y="0"/>
            <a:chExt cx="6510731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10736" cy="731520"/>
            </a:xfrm>
            <a:custGeom>
              <a:avLst/>
              <a:gdLst/>
              <a:ahLst/>
              <a:cxnLst/>
              <a:rect l="l" t="t" r="r" b="b"/>
              <a:pathLst>
                <a:path w="6510736" h="731520">
                  <a:moveTo>
                    <a:pt x="0" y="0"/>
                  </a:moveTo>
                  <a:lnTo>
                    <a:pt x="6510736" y="0"/>
                  </a:lnTo>
                  <a:lnTo>
                    <a:pt x="65107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422" b="-12342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510731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71 HELD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7132320"/>
            <a:ext cx="16093440" cy="640080"/>
            <a:chOff x="0" y="0"/>
            <a:chExt cx="21457920" cy="8534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909" b="-43990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Top flip flows: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7863840"/>
            <a:ext cx="3017520" cy="1280160"/>
            <a:chOff x="0" y="0"/>
            <a:chExt cx="4023360" cy="1706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23360" cy="1706880"/>
            </a:xfrm>
            <a:custGeom>
              <a:avLst/>
              <a:gdLst/>
              <a:ahLst/>
              <a:cxnLst/>
              <a:rect l="l" t="t" r="r" b="b"/>
              <a:pathLst>
                <a:path w="4023360" h="1706880">
                  <a:moveTo>
                    <a:pt x="0" y="0"/>
                  </a:moveTo>
                  <a:lnTo>
                    <a:pt x="4023360" y="0"/>
                  </a:lnTo>
                  <a:lnTo>
                    <a:pt x="40233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97280" y="7863840"/>
            <a:ext cx="3017520" cy="861212"/>
            <a:chOff x="0" y="0"/>
            <a:chExt cx="4023360" cy="11482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23360" cy="1148283"/>
            </a:xfrm>
            <a:custGeom>
              <a:avLst/>
              <a:gdLst/>
              <a:ahLst/>
              <a:cxnLst/>
              <a:rect l="l" t="t" r="r" b="b"/>
              <a:pathLst>
                <a:path w="4023360" h="1148283">
                  <a:moveTo>
                    <a:pt x="0" y="0"/>
                  </a:moveTo>
                  <a:lnTo>
                    <a:pt x="4023360" y="0"/>
                  </a:lnTo>
                  <a:lnTo>
                    <a:pt x="4023360" y="1148283"/>
                  </a:lnTo>
                  <a:lnTo>
                    <a:pt x="0" y="1148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" b="-861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023360" cy="11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65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7280" y="8503920"/>
            <a:ext cx="3017520" cy="548640"/>
            <a:chOff x="0" y="0"/>
            <a:chExt cx="402336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DMK → TVK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34256" y="7863840"/>
            <a:ext cx="3017520" cy="1280160"/>
            <a:chOff x="0" y="0"/>
            <a:chExt cx="4023360" cy="17068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23360" cy="1706880"/>
            </a:xfrm>
            <a:custGeom>
              <a:avLst/>
              <a:gdLst/>
              <a:ahLst/>
              <a:cxnLst/>
              <a:rect l="l" t="t" r="r" b="b"/>
              <a:pathLst>
                <a:path w="4023360" h="1706880">
                  <a:moveTo>
                    <a:pt x="0" y="0"/>
                  </a:moveTo>
                  <a:lnTo>
                    <a:pt x="4023360" y="0"/>
                  </a:lnTo>
                  <a:lnTo>
                    <a:pt x="40233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4334256" y="7863840"/>
            <a:ext cx="3017520" cy="861212"/>
            <a:chOff x="0" y="0"/>
            <a:chExt cx="4023360" cy="11482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023360" cy="1148283"/>
            </a:xfrm>
            <a:custGeom>
              <a:avLst/>
              <a:gdLst/>
              <a:ahLst/>
              <a:cxnLst/>
              <a:rect l="l" t="t" r="r" b="b"/>
              <a:pathLst>
                <a:path w="4023360" h="1148283">
                  <a:moveTo>
                    <a:pt x="0" y="0"/>
                  </a:moveTo>
                  <a:lnTo>
                    <a:pt x="4023360" y="0"/>
                  </a:lnTo>
                  <a:lnTo>
                    <a:pt x="4023360" y="1148283"/>
                  </a:lnTo>
                  <a:lnTo>
                    <a:pt x="0" y="1148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" b="-861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023360" cy="11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26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34256" y="8503920"/>
            <a:ext cx="3017520" cy="548640"/>
            <a:chOff x="0" y="0"/>
            <a:chExt cx="402336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AIADMK → TVK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71232" y="7863840"/>
            <a:ext cx="3017520" cy="1280160"/>
            <a:chOff x="0" y="0"/>
            <a:chExt cx="4023360" cy="17068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3360" cy="1706880"/>
            </a:xfrm>
            <a:custGeom>
              <a:avLst/>
              <a:gdLst/>
              <a:ahLst/>
              <a:cxnLst/>
              <a:rect l="l" t="t" r="r" b="b"/>
              <a:pathLst>
                <a:path w="4023360" h="1706880">
                  <a:moveTo>
                    <a:pt x="0" y="0"/>
                  </a:moveTo>
                  <a:lnTo>
                    <a:pt x="4023360" y="0"/>
                  </a:lnTo>
                  <a:lnTo>
                    <a:pt x="40233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7571232" y="7863840"/>
            <a:ext cx="3017520" cy="861212"/>
            <a:chOff x="0" y="0"/>
            <a:chExt cx="4023360" cy="11482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023360" cy="1148283"/>
            </a:xfrm>
            <a:custGeom>
              <a:avLst/>
              <a:gdLst/>
              <a:ahLst/>
              <a:cxnLst/>
              <a:rect l="l" t="t" r="r" b="b"/>
              <a:pathLst>
                <a:path w="4023360" h="1148283">
                  <a:moveTo>
                    <a:pt x="0" y="0"/>
                  </a:moveTo>
                  <a:lnTo>
                    <a:pt x="4023360" y="0"/>
                  </a:lnTo>
                  <a:lnTo>
                    <a:pt x="4023360" y="1148283"/>
                  </a:lnTo>
                  <a:lnTo>
                    <a:pt x="0" y="1148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" b="-861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4023360" cy="11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22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71232" y="8503920"/>
            <a:ext cx="3017520" cy="548640"/>
            <a:chOff x="0" y="0"/>
            <a:chExt cx="402336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DMK → AIADMK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808208" y="7863840"/>
            <a:ext cx="3017520" cy="1280160"/>
            <a:chOff x="0" y="0"/>
            <a:chExt cx="4023360" cy="17068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023360" cy="1706880"/>
            </a:xfrm>
            <a:custGeom>
              <a:avLst/>
              <a:gdLst/>
              <a:ahLst/>
              <a:cxnLst/>
              <a:rect l="l" t="t" r="r" b="b"/>
              <a:pathLst>
                <a:path w="4023360" h="1706880">
                  <a:moveTo>
                    <a:pt x="0" y="0"/>
                  </a:moveTo>
                  <a:lnTo>
                    <a:pt x="4023360" y="0"/>
                  </a:lnTo>
                  <a:lnTo>
                    <a:pt x="40233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0808208" y="7863840"/>
            <a:ext cx="3017520" cy="861212"/>
            <a:chOff x="0" y="0"/>
            <a:chExt cx="4023360" cy="114828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23360" cy="1148283"/>
            </a:xfrm>
            <a:custGeom>
              <a:avLst/>
              <a:gdLst/>
              <a:ahLst/>
              <a:cxnLst/>
              <a:rect l="l" t="t" r="r" b="b"/>
              <a:pathLst>
                <a:path w="4023360" h="1148283">
                  <a:moveTo>
                    <a:pt x="0" y="0"/>
                  </a:moveTo>
                  <a:lnTo>
                    <a:pt x="4023360" y="0"/>
                  </a:lnTo>
                  <a:lnTo>
                    <a:pt x="4023360" y="1148283"/>
                  </a:lnTo>
                  <a:lnTo>
                    <a:pt x="0" y="1148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" b="-861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4023360" cy="11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08208" y="8503920"/>
            <a:ext cx="3017520" cy="548640"/>
            <a:chOff x="0" y="0"/>
            <a:chExt cx="402336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AIADMK → DMK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045184" y="7863840"/>
            <a:ext cx="3017520" cy="1280160"/>
            <a:chOff x="0" y="0"/>
            <a:chExt cx="4023360" cy="17068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23360" cy="1706880"/>
            </a:xfrm>
            <a:custGeom>
              <a:avLst/>
              <a:gdLst/>
              <a:ahLst/>
              <a:cxnLst/>
              <a:rect l="l" t="t" r="r" b="b"/>
              <a:pathLst>
                <a:path w="4023360" h="1706880">
                  <a:moveTo>
                    <a:pt x="0" y="0"/>
                  </a:moveTo>
                  <a:lnTo>
                    <a:pt x="4023360" y="0"/>
                  </a:lnTo>
                  <a:lnTo>
                    <a:pt x="402336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4045184" y="7863840"/>
            <a:ext cx="3017520" cy="861212"/>
            <a:chOff x="0" y="0"/>
            <a:chExt cx="4023360" cy="114828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023360" cy="1148283"/>
            </a:xfrm>
            <a:custGeom>
              <a:avLst/>
              <a:gdLst/>
              <a:ahLst/>
              <a:cxnLst/>
              <a:rect l="l" t="t" r="r" b="b"/>
              <a:pathLst>
                <a:path w="4023360" h="1148283">
                  <a:moveTo>
                    <a:pt x="0" y="0"/>
                  </a:moveTo>
                  <a:lnTo>
                    <a:pt x="4023360" y="0"/>
                  </a:lnTo>
                  <a:lnTo>
                    <a:pt x="4023360" y="1148283"/>
                  </a:lnTo>
                  <a:lnTo>
                    <a:pt x="0" y="1148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24" b="-8618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023360" cy="11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045184" y="8503920"/>
            <a:ext cx="3017520" cy="548640"/>
            <a:chOff x="0" y="0"/>
            <a:chExt cx="402336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9525"/>
              <a:ext cx="4023360" cy="7219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INC → TVK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97280" y="9546336"/>
            <a:ext cx="16093440" cy="402336"/>
            <a:chOff x="0" y="0"/>
            <a:chExt cx="21457920" cy="5364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457920" cy="536448"/>
            </a:xfrm>
            <a:custGeom>
              <a:avLst/>
              <a:gdLst/>
              <a:ahLst/>
              <a:cxnLst/>
              <a:rect l="l" t="t" r="r" b="b"/>
              <a:pathLst>
                <a:path w="21457920" h="536448">
                  <a:moveTo>
                    <a:pt x="0" y="0"/>
                  </a:moveTo>
                  <a:lnTo>
                    <a:pt x="21457920" y="0"/>
                  </a:lnTo>
                  <a:lnTo>
                    <a:pt x="2145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21457920" cy="536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444C56"/>
                  </a:solidFill>
                  <a:latin typeface="Cinzel"/>
                  <a:ea typeface="Cinzel"/>
                  <a:cs typeface="Cinzel"/>
                  <a:sym typeface="Cinzel"/>
                </a:rPr>
                <a:t>Source: ECI · tn_2021_results.csv &amp; tn_2026_results.csv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640080"/>
            <a:chOff x="0" y="0"/>
            <a:chExt cx="21457920" cy="853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909" b="-43990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000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STORY  01  ·  THE FLIP STORY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097280"/>
            <a:ext cx="16459200" cy="1942948"/>
            <a:chOff x="0" y="0"/>
            <a:chExt cx="21945600" cy="25905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590597"/>
            </a:xfrm>
            <a:custGeom>
              <a:avLst/>
              <a:gdLst/>
              <a:ahLst/>
              <a:cxnLst/>
              <a:rect l="l" t="t" r="r" b="b"/>
              <a:pathLst>
                <a:path w="21945600" h="2590597">
                  <a:moveTo>
                    <a:pt x="0" y="0"/>
                  </a:moveTo>
                  <a:lnTo>
                    <a:pt x="21945600" y="0"/>
                  </a:lnTo>
                  <a:lnTo>
                    <a:pt x="21945600" y="2590597"/>
                  </a:lnTo>
                  <a:lnTo>
                    <a:pt x="0" y="2590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72" b="-9565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2600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Every region flipped. Chennai Metro most completely.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20" y="822960"/>
            <a:ext cx="19751040" cy="100584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97280" y="9473184"/>
            <a:ext cx="16093440" cy="512064"/>
            <a:chOff x="0" y="0"/>
            <a:chExt cx="21457920" cy="682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57920" cy="682752"/>
            </a:xfrm>
            <a:custGeom>
              <a:avLst/>
              <a:gdLst/>
              <a:ahLst/>
              <a:cxnLst/>
              <a:rect l="l" t="t" r="r" b="b"/>
              <a:pathLst>
                <a:path w="21457920" h="682752">
                  <a:moveTo>
                    <a:pt x="0" y="0"/>
                  </a:moveTo>
                  <a:lnTo>
                    <a:pt x="21457920" y="0"/>
                  </a:lnTo>
                  <a:lnTo>
                    <a:pt x="2145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386" b="-5623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45792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DMK held Chennai Metro, but TVK matched it seat-for-seat · AIADMK resurged in North &amp; Central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731520"/>
            <a:chOff x="0" y="0"/>
            <a:chExt cx="21457920" cy="975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1599">
                  <a:solidFill>
                    <a:srgbClr val="14B8A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STORY  02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188720"/>
            <a:ext cx="16093440" cy="3604336"/>
            <a:chOff x="0" y="0"/>
            <a:chExt cx="21457920" cy="48057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4805782"/>
            </a:xfrm>
            <a:custGeom>
              <a:avLst/>
              <a:gdLst/>
              <a:ahLst/>
              <a:cxnLst/>
              <a:rect l="l" t="t" r="r" b="b"/>
              <a:pathLst>
                <a:path w="21457920" h="4805782">
                  <a:moveTo>
                    <a:pt x="0" y="0"/>
                  </a:moveTo>
                  <a:lnTo>
                    <a:pt x="21457920" y="0"/>
                  </a:lnTo>
                  <a:lnTo>
                    <a:pt x="21457920" y="4805782"/>
                  </a:lnTo>
                  <a:lnTo>
                    <a:pt x="0" y="4805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678" b="-2632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457920" cy="481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TVK debuted at 34.9% —</a:t>
              </a:r>
            </a:p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ahead of both DMK and AIADMK.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7280" y="3931920"/>
            <a:ext cx="16093440" cy="1046988"/>
            <a:chOff x="0" y="0"/>
            <a:chExt cx="21457920" cy="1395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57920" cy="1395984"/>
            </a:xfrm>
            <a:custGeom>
              <a:avLst/>
              <a:gdLst/>
              <a:ahLst/>
              <a:cxnLst/>
              <a:rect l="l" t="t" r="r" b="b"/>
              <a:pathLst>
                <a:path w="21457920" h="1395984">
                  <a:moveTo>
                    <a:pt x="0" y="0"/>
                  </a:moveTo>
                  <a:lnTo>
                    <a:pt x="21457920" y="0"/>
                  </a:lnTo>
                  <a:lnTo>
                    <a:pt x="21457920" y="1395984"/>
                  </a:lnTo>
                  <a:lnTo>
                    <a:pt x="0" y="1395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839" b="-24317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6461760" y="0"/>
              <a:ext cx="14996160" cy="1395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dirty="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A party that did not exist in 2021 became Tamil Nadu's single largest vote-getter in 2026.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7280" y="5212080"/>
            <a:ext cx="5616607" cy="1005840"/>
            <a:chOff x="0" y="0"/>
            <a:chExt cx="7488809" cy="1341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88809" cy="1341120"/>
            </a:xfrm>
            <a:custGeom>
              <a:avLst/>
              <a:gdLst/>
              <a:ahLst/>
              <a:cxnLst/>
              <a:rect l="l" t="t" r="r" b="b"/>
              <a:pathLst>
                <a:path w="7488809" h="1341120">
                  <a:moveTo>
                    <a:pt x="0" y="0"/>
                  </a:moveTo>
                  <a:lnTo>
                    <a:pt x="7488809" y="0"/>
                  </a:lnTo>
                  <a:lnTo>
                    <a:pt x="748880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97280" y="5212080"/>
            <a:ext cx="5616607" cy="512064"/>
            <a:chOff x="0" y="0"/>
            <a:chExt cx="7488809" cy="6827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88813" cy="682752"/>
            </a:xfrm>
            <a:custGeom>
              <a:avLst/>
              <a:gdLst/>
              <a:ahLst/>
              <a:cxnLst/>
              <a:rect l="l" t="t" r="r" b="b"/>
              <a:pathLst>
                <a:path w="7488813" h="682752">
                  <a:moveTo>
                    <a:pt x="0" y="0"/>
                  </a:moveTo>
                  <a:lnTo>
                    <a:pt x="7488813" y="0"/>
                  </a:lnTo>
                  <a:lnTo>
                    <a:pt x="748881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722" b="-16372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7488809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D1117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TVK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7280" y="5724144"/>
            <a:ext cx="5616607" cy="493776"/>
            <a:chOff x="0" y="0"/>
            <a:chExt cx="7488809" cy="6583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88813" cy="658368"/>
            </a:xfrm>
            <a:custGeom>
              <a:avLst/>
              <a:gdLst/>
              <a:ahLst/>
              <a:cxnLst/>
              <a:rect l="l" t="t" r="r" b="b"/>
              <a:pathLst>
                <a:path w="7488813" h="658368">
                  <a:moveTo>
                    <a:pt x="0" y="0"/>
                  </a:moveTo>
                  <a:lnTo>
                    <a:pt x="7488813" y="0"/>
                  </a:lnTo>
                  <a:lnTo>
                    <a:pt x="7488813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638" b="-17163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7488809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D1117"/>
                  </a:solidFill>
                  <a:latin typeface="Cinzel"/>
                  <a:ea typeface="Cinzel"/>
                  <a:cs typeface="Cinzel"/>
                  <a:sym typeface="Cinzel"/>
                </a:rPr>
                <a:t>34.9%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13887" y="5212080"/>
            <a:ext cx="3894611" cy="1005840"/>
            <a:chOff x="0" y="0"/>
            <a:chExt cx="5192814" cy="134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92776" cy="1341120"/>
            </a:xfrm>
            <a:custGeom>
              <a:avLst/>
              <a:gdLst/>
              <a:ahLst/>
              <a:cxnLst/>
              <a:rect l="l" t="t" r="r" b="b"/>
              <a:pathLst>
                <a:path w="5192776" h="1341120">
                  <a:moveTo>
                    <a:pt x="0" y="0"/>
                  </a:moveTo>
                  <a:lnTo>
                    <a:pt x="5192776" y="0"/>
                  </a:lnTo>
                  <a:lnTo>
                    <a:pt x="5192776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713887" y="5212080"/>
            <a:ext cx="3894611" cy="512064"/>
            <a:chOff x="0" y="0"/>
            <a:chExt cx="5192814" cy="6827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92816" cy="682752"/>
            </a:xfrm>
            <a:custGeom>
              <a:avLst/>
              <a:gdLst/>
              <a:ahLst/>
              <a:cxnLst/>
              <a:rect l="l" t="t" r="r" b="b"/>
              <a:pathLst>
                <a:path w="5192816" h="682752">
                  <a:moveTo>
                    <a:pt x="0" y="0"/>
                  </a:moveTo>
                  <a:lnTo>
                    <a:pt x="5192816" y="0"/>
                  </a:lnTo>
                  <a:lnTo>
                    <a:pt x="519281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197" b="-9819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192814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D1117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DMK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13887" y="5724144"/>
            <a:ext cx="3894611" cy="493776"/>
            <a:chOff x="0" y="0"/>
            <a:chExt cx="5192814" cy="6583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92816" cy="658368"/>
            </a:xfrm>
            <a:custGeom>
              <a:avLst/>
              <a:gdLst/>
              <a:ahLst/>
              <a:cxnLst/>
              <a:rect l="l" t="t" r="r" b="b"/>
              <a:pathLst>
                <a:path w="5192816" h="658368">
                  <a:moveTo>
                    <a:pt x="0" y="0"/>
                  </a:moveTo>
                  <a:lnTo>
                    <a:pt x="5192816" y="0"/>
                  </a:lnTo>
                  <a:lnTo>
                    <a:pt x="51928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86" b="-10368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5192814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D1117"/>
                  </a:solidFill>
                  <a:latin typeface="Cinzel"/>
                  <a:ea typeface="Cinzel"/>
                  <a:cs typeface="Cinzel"/>
                  <a:sym typeface="Cinzel"/>
                </a:rPr>
                <a:t>24.2%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08507" y="5212080"/>
            <a:ext cx="3411807" cy="1005840"/>
            <a:chOff x="0" y="0"/>
            <a:chExt cx="4549076" cy="1341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49140" cy="1341120"/>
            </a:xfrm>
            <a:custGeom>
              <a:avLst/>
              <a:gdLst/>
              <a:ahLst/>
              <a:cxnLst/>
              <a:rect l="l" t="t" r="r" b="b"/>
              <a:pathLst>
                <a:path w="4549140" h="1341120">
                  <a:moveTo>
                    <a:pt x="0" y="0"/>
                  </a:moveTo>
                  <a:lnTo>
                    <a:pt x="4549140" y="0"/>
                  </a:lnTo>
                  <a:lnTo>
                    <a:pt x="45491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608507" y="5212080"/>
            <a:ext cx="3411807" cy="512064"/>
            <a:chOff x="0" y="0"/>
            <a:chExt cx="4549076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49080" cy="682752"/>
            </a:xfrm>
            <a:custGeom>
              <a:avLst/>
              <a:gdLst/>
              <a:ahLst/>
              <a:cxnLst/>
              <a:rect l="l" t="t" r="r" b="b"/>
              <a:pathLst>
                <a:path w="4549080" h="682752">
                  <a:moveTo>
                    <a:pt x="0" y="0"/>
                  </a:moveTo>
                  <a:lnTo>
                    <a:pt x="4549080" y="0"/>
                  </a:lnTo>
                  <a:lnTo>
                    <a:pt x="4549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825" b="-7982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4549076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D1117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AIADMK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08507" y="5724144"/>
            <a:ext cx="3411807" cy="493776"/>
            <a:chOff x="0" y="0"/>
            <a:chExt cx="4549076" cy="6583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49080" cy="658368"/>
            </a:xfrm>
            <a:custGeom>
              <a:avLst/>
              <a:gdLst/>
              <a:ahLst/>
              <a:cxnLst/>
              <a:rect l="l" t="t" r="r" b="b"/>
              <a:pathLst>
                <a:path w="4549080" h="658368">
                  <a:moveTo>
                    <a:pt x="0" y="0"/>
                  </a:moveTo>
                  <a:lnTo>
                    <a:pt x="4549080" y="0"/>
                  </a:lnTo>
                  <a:lnTo>
                    <a:pt x="4549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634" b="-8463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549076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D1117"/>
                  </a:solidFill>
                  <a:latin typeface="Cinzel"/>
                  <a:ea typeface="Cinzel"/>
                  <a:cs typeface="Cinzel"/>
                  <a:sym typeface="Cinzel"/>
                </a:rPr>
                <a:t>21.2%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020314" y="5212080"/>
            <a:ext cx="643738" cy="1005840"/>
            <a:chOff x="0" y="0"/>
            <a:chExt cx="858317" cy="13411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8266" cy="1341120"/>
            </a:xfrm>
            <a:custGeom>
              <a:avLst/>
              <a:gdLst/>
              <a:ahLst/>
              <a:cxnLst/>
              <a:rect l="l" t="t" r="r" b="b"/>
              <a:pathLst>
                <a:path w="858266" h="1341120">
                  <a:moveTo>
                    <a:pt x="0" y="0"/>
                  </a:moveTo>
                  <a:lnTo>
                    <a:pt x="858266" y="0"/>
                  </a:lnTo>
                  <a:lnTo>
                    <a:pt x="858266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4664052" y="5212080"/>
            <a:ext cx="547173" cy="1005840"/>
            <a:chOff x="0" y="0"/>
            <a:chExt cx="729564" cy="13411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29615" cy="1341120"/>
            </a:xfrm>
            <a:custGeom>
              <a:avLst/>
              <a:gdLst/>
              <a:ahLst/>
              <a:cxnLst/>
              <a:rect l="l" t="t" r="r" b="b"/>
              <a:pathLst>
                <a:path w="729615" h="1341120">
                  <a:moveTo>
                    <a:pt x="0" y="0"/>
                  </a:moveTo>
                  <a:lnTo>
                    <a:pt x="729615" y="0"/>
                  </a:lnTo>
                  <a:lnTo>
                    <a:pt x="729615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5211225" y="5212080"/>
            <a:ext cx="482803" cy="1005840"/>
            <a:chOff x="0" y="0"/>
            <a:chExt cx="643738" cy="13411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3763" cy="1341120"/>
            </a:xfrm>
            <a:custGeom>
              <a:avLst/>
              <a:gdLst/>
              <a:ahLst/>
              <a:cxnLst/>
              <a:rect l="l" t="t" r="r" b="b"/>
              <a:pathLst>
                <a:path w="643763" h="1341120">
                  <a:moveTo>
                    <a:pt x="0" y="0"/>
                  </a:moveTo>
                  <a:lnTo>
                    <a:pt x="643763" y="0"/>
                  </a:lnTo>
                  <a:lnTo>
                    <a:pt x="643763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5694028" y="5212080"/>
            <a:ext cx="1496692" cy="1005840"/>
            <a:chOff x="0" y="0"/>
            <a:chExt cx="1995589" cy="13411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95551" cy="1341120"/>
            </a:xfrm>
            <a:custGeom>
              <a:avLst/>
              <a:gdLst/>
              <a:ahLst/>
              <a:cxnLst/>
              <a:rect l="l" t="t" r="r" b="b"/>
              <a:pathLst>
                <a:path w="1995551" h="1341120">
                  <a:moveTo>
                    <a:pt x="0" y="0"/>
                  </a:moveTo>
                  <a:lnTo>
                    <a:pt x="1995551" y="0"/>
                  </a:lnTo>
                  <a:lnTo>
                    <a:pt x="199555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5694028" y="5212080"/>
            <a:ext cx="1496692" cy="512064"/>
            <a:chOff x="0" y="0"/>
            <a:chExt cx="1995589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5587" cy="682752"/>
            </a:xfrm>
            <a:custGeom>
              <a:avLst/>
              <a:gdLst/>
              <a:ahLst/>
              <a:cxnLst/>
              <a:rect l="l" t="t" r="r" b="b"/>
              <a:pathLst>
                <a:path w="1995587" h="682752">
                  <a:moveTo>
                    <a:pt x="0" y="0"/>
                  </a:moveTo>
                  <a:lnTo>
                    <a:pt x="1995587" y="0"/>
                  </a:lnTo>
                  <a:lnTo>
                    <a:pt x="1995587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52" b="-695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995589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D1117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Oth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694028" y="5724144"/>
            <a:ext cx="1496692" cy="493776"/>
            <a:chOff x="0" y="0"/>
            <a:chExt cx="1995589" cy="65836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95587" cy="658368"/>
            </a:xfrm>
            <a:custGeom>
              <a:avLst/>
              <a:gdLst/>
              <a:ahLst/>
              <a:cxnLst/>
              <a:rect l="l" t="t" r="r" b="b"/>
              <a:pathLst>
                <a:path w="1995587" h="658368">
                  <a:moveTo>
                    <a:pt x="0" y="0"/>
                  </a:moveTo>
                  <a:lnTo>
                    <a:pt x="1995587" y="0"/>
                  </a:lnTo>
                  <a:lnTo>
                    <a:pt x="1995587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61" b="-906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995589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D1117"/>
                  </a:solidFill>
                  <a:latin typeface="Cinzel"/>
                  <a:ea typeface="Cinzel"/>
                  <a:cs typeface="Cinzel"/>
                  <a:sym typeface="Cinzel"/>
                </a:rPr>
                <a:t>9.3%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97280" y="6583680"/>
            <a:ext cx="7315200" cy="548640"/>
            <a:chOff x="0" y="0"/>
            <a:chExt cx="975360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753600" cy="731520"/>
            </a:xfrm>
            <a:custGeom>
              <a:avLst/>
              <a:gdLst/>
              <a:ahLst/>
              <a:cxnLst/>
              <a:rect l="l" t="t" r="r" b="b"/>
              <a:pathLst>
                <a:path w="9753600" h="73152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9753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2021 vote share for reference: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97280" y="7223760"/>
            <a:ext cx="6067225" cy="731520"/>
            <a:chOff x="0" y="0"/>
            <a:chExt cx="8089633" cy="9753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089646" cy="975360"/>
            </a:xfrm>
            <a:custGeom>
              <a:avLst/>
              <a:gdLst/>
              <a:ahLst/>
              <a:cxnLst/>
              <a:rect l="l" t="t" r="r" b="b"/>
              <a:pathLst>
                <a:path w="8089646" h="975360">
                  <a:moveTo>
                    <a:pt x="0" y="0"/>
                  </a:moveTo>
                  <a:lnTo>
                    <a:pt x="8089646" y="0"/>
                  </a:lnTo>
                  <a:lnTo>
                    <a:pt x="8089646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3B82F6">
                <a:alpha val="48627"/>
              </a:srgbClr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97280" y="7223760"/>
            <a:ext cx="6067225" cy="731520"/>
            <a:chOff x="0" y="0"/>
            <a:chExt cx="8089633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089635" cy="975360"/>
            </a:xfrm>
            <a:custGeom>
              <a:avLst/>
              <a:gdLst/>
              <a:ahLst/>
              <a:cxnLst/>
              <a:rect l="l" t="t" r="r" b="b"/>
              <a:pathLst>
                <a:path w="8089635" h="975360">
                  <a:moveTo>
                    <a:pt x="0" y="0"/>
                  </a:moveTo>
                  <a:lnTo>
                    <a:pt x="8089635" y="0"/>
                  </a:lnTo>
                  <a:lnTo>
                    <a:pt x="8089635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608" b="-11160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8089633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0F6FC"/>
                  </a:solidFill>
                  <a:latin typeface="Cinzel"/>
                  <a:ea typeface="Cinzel"/>
                  <a:cs typeface="Cinzel"/>
                  <a:sym typeface="Cinzel"/>
                </a:rPr>
                <a:t>DMK 37.7%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164505" y="7223760"/>
            <a:ext cx="5359117" cy="731520"/>
            <a:chOff x="0" y="0"/>
            <a:chExt cx="7145490" cy="9753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145528" cy="975360"/>
            </a:xfrm>
            <a:custGeom>
              <a:avLst/>
              <a:gdLst/>
              <a:ahLst/>
              <a:cxnLst/>
              <a:rect l="l" t="t" r="r" b="b"/>
              <a:pathLst>
                <a:path w="7145528" h="975360">
                  <a:moveTo>
                    <a:pt x="0" y="0"/>
                  </a:moveTo>
                  <a:lnTo>
                    <a:pt x="7145528" y="0"/>
                  </a:lnTo>
                  <a:lnTo>
                    <a:pt x="714552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366F1">
                <a:alpha val="48627"/>
              </a:srgbClr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164505" y="7223760"/>
            <a:ext cx="5359117" cy="731520"/>
            <a:chOff x="0" y="0"/>
            <a:chExt cx="7145490" cy="9753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45488" cy="975360"/>
            </a:xfrm>
            <a:custGeom>
              <a:avLst/>
              <a:gdLst/>
              <a:ahLst/>
              <a:cxnLst/>
              <a:rect l="l" t="t" r="r" b="b"/>
              <a:pathLst>
                <a:path w="7145488" h="975360">
                  <a:moveTo>
                    <a:pt x="0" y="0"/>
                  </a:moveTo>
                  <a:lnTo>
                    <a:pt x="7145488" y="0"/>
                  </a:lnTo>
                  <a:lnTo>
                    <a:pt x="71454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747" b="-9274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714549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0F6FC"/>
                  </a:solidFill>
                  <a:latin typeface="Cinzel"/>
                  <a:ea typeface="Cinzel"/>
                  <a:cs typeface="Cinzel"/>
                  <a:sym typeface="Cinzel"/>
                </a:rPr>
                <a:t>AIADMK 33.3%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523622" y="7223760"/>
            <a:ext cx="1062171" cy="731520"/>
            <a:chOff x="0" y="0"/>
            <a:chExt cx="1416228" cy="9753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16177" cy="975360"/>
            </a:xfrm>
            <a:custGeom>
              <a:avLst/>
              <a:gdLst/>
              <a:ahLst/>
              <a:cxnLst/>
              <a:rect l="l" t="t" r="r" b="b"/>
              <a:pathLst>
                <a:path w="1416177" h="975360">
                  <a:moveTo>
                    <a:pt x="0" y="0"/>
                  </a:moveTo>
                  <a:lnTo>
                    <a:pt x="1416177" y="0"/>
                  </a:lnTo>
                  <a:lnTo>
                    <a:pt x="1416177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A855F7">
                <a:alpha val="48627"/>
              </a:srgbClr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2523622" y="7223760"/>
            <a:ext cx="1062171" cy="731520"/>
            <a:chOff x="0" y="0"/>
            <a:chExt cx="1416228" cy="9753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16224" cy="975360"/>
            </a:xfrm>
            <a:custGeom>
              <a:avLst/>
              <a:gdLst/>
              <a:ahLst/>
              <a:cxnLst/>
              <a:rect l="l" t="t" r="r" b="b"/>
              <a:pathLst>
                <a:path w="1416224" h="975360">
                  <a:moveTo>
                    <a:pt x="0" y="0"/>
                  </a:moveTo>
                  <a:lnTo>
                    <a:pt x="1416224" y="0"/>
                  </a:lnTo>
                  <a:lnTo>
                    <a:pt x="14162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63" r="-3836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1416228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0F6FC"/>
                  </a:solidFill>
                  <a:latin typeface="Cinzel"/>
                  <a:ea typeface="Cinzel"/>
                  <a:cs typeface="Cinzel"/>
                  <a:sym typeface="Cinzel"/>
                </a:rPr>
                <a:t>NTK 6.6%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585793" y="7223760"/>
            <a:ext cx="692020" cy="731520"/>
            <a:chOff x="0" y="0"/>
            <a:chExt cx="922693" cy="9753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22655" cy="975360"/>
            </a:xfrm>
            <a:custGeom>
              <a:avLst/>
              <a:gdLst/>
              <a:ahLst/>
              <a:cxnLst/>
              <a:rect l="l" t="t" r="r" b="b"/>
              <a:pathLst>
                <a:path w="922655" h="975360">
                  <a:moveTo>
                    <a:pt x="0" y="0"/>
                  </a:moveTo>
                  <a:lnTo>
                    <a:pt x="922655" y="0"/>
                  </a:lnTo>
                  <a:lnTo>
                    <a:pt x="922655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2C55E">
                <a:alpha val="48627"/>
              </a:srgbClr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4277804" y="7223760"/>
            <a:ext cx="2912916" cy="731520"/>
            <a:chOff x="0" y="0"/>
            <a:chExt cx="3883889" cy="9753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883914" cy="975360"/>
            </a:xfrm>
            <a:custGeom>
              <a:avLst/>
              <a:gdLst/>
              <a:ahLst/>
              <a:cxnLst/>
              <a:rect l="l" t="t" r="r" b="b"/>
              <a:pathLst>
                <a:path w="3883914" h="975360">
                  <a:moveTo>
                    <a:pt x="0" y="0"/>
                  </a:moveTo>
                  <a:lnTo>
                    <a:pt x="3883914" y="0"/>
                  </a:lnTo>
                  <a:lnTo>
                    <a:pt x="388391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374151">
                <a:alpha val="48627"/>
              </a:srgbClr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4277804" y="7223760"/>
            <a:ext cx="2912916" cy="731520"/>
            <a:chOff x="0" y="0"/>
            <a:chExt cx="3883889" cy="9753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883883" cy="975360"/>
            </a:xfrm>
            <a:custGeom>
              <a:avLst/>
              <a:gdLst/>
              <a:ahLst/>
              <a:cxnLst/>
              <a:rect l="l" t="t" r="r" b="b"/>
              <a:pathLst>
                <a:path w="3883883" h="975360">
                  <a:moveTo>
                    <a:pt x="0" y="0"/>
                  </a:moveTo>
                  <a:lnTo>
                    <a:pt x="3883883" y="0"/>
                  </a:lnTo>
                  <a:lnTo>
                    <a:pt x="3883883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589" b="-2758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883889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0F6FC"/>
                  </a:solidFill>
                  <a:latin typeface="Cinzel"/>
                  <a:ea typeface="Cinzel"/>
                  <a:cs typeface="Cinzel"/>
                  <a:sym typeface="Cinzel"/>
                </a:rPr>
                <a:t>Oth 18.1%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97280" y="8321040"/>
            <a:ext cx="16093440" cy="640080"/>
            <a:chOff x="0" y="0"/>
            <a:chExt cx="21457920" cy="8534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909" b="-439909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4B8A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DMK lost 13.5 points · AIADMK lost 12.1 points · The votes moved — overwhelmingly — to TVK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97280" y="9546336"/>
            <a:ext cx="16093440" cy="402336"/>
            <a:chOff x="0" y="0"/>
            <a:chExt cx="21457920" cy="53644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457920" cy="536448"/>
            </a:xfrm>
            <a:custGeom>
              <a:avLst/>
              <a:gdLst/>
              <a:ahLst/>
              <a:cxnLst/>
              <a:rect l="l" t="t" r="r" b="b"/>
              <a:pathLst>
                <a:path w="21457920" h="536448">
                  <a:moveTo>
                    <a:pt x="0" y="0"/>
                  </a:moveTo>
                  <a:lnTo>
                    <a:pt x="21457920" y="0"/>
                  </a:lnTo>
                  <a:lnTo>
                    <a:pt x="2145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21457920" cy="536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444C56"/>
                  </a:solidFill>
                  <a:latin typeface="Cinzel"/>
                  <a:ea typeface="Cinzel"/>
                  <a:cs typeface="Cinzel"/>
                  <a:sym typeface="Cinzel"/>
                </a:rPr>
                <a:t>Source: ECI · All-constituency vote totals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640080"/>
            <a:chOff x="0" y="0"/>
            <a:chExt cx="21457920" cy="853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909" b="-43990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1000">
                  <a:solidFill>
                    <a:srgbClr val="14B8A6"/>
                  </a:solidFill>
                  <a:latin typeface="Cinzel"/>
                  <a:ea typeface="Cinzel"/>
                  <a:cs typeface="Cinzel"/>
                  <a:sym typeface="Cinzel"/>
                </a:rPr>
                <a:t>STORY  02  ·  THE VOTE SHARE STORY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097280"/>
            <a:ext cx="16459200" cy="1942948"/>
            <a:chOff x="0" y="0"/>
            <a:chExt cx="21945600" cy="25905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590597"/>
            </a:xfrm>
            <a:custGeom>
              <a:avLst/>
              <a:gdLst/>
              <a:ahLst/>
              <a:cxnLst/>
              <a:rect l="l" t="t" r="r" b="b"/>
              <a:pathLst>
                <a:path w="21945600" h="2590597">
                  <a:moveTo>
                    <a:pt x="0" y="0"/>
                  </a:moveTo>
                  <a:lnTo>
                    <a:pt x="21945600" y="0"/>
                  </a:lnTo>
                  <a:lnTo>
                    <a:pt x="21945600" y="2590597"/>
                  </a:lnTo>
                  <a:lnTo>
                    <a:pt x="0" y="2590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472" b="-9565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2600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More votes, but seat share tells a different tale.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20" y="914400"/>
            <a:ext cx="19751040" cy="996696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97280" y="9473184"/>
            <a:ext cx="16093440" cy="512064"/>
            <a:chOff x="0" y="0"/>
            <a:chExt cx="21457920" cy="682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57920" cy="682752"/>
            </a:xfrm>
            <a:custGeom>
              <a:avLst/>
              <a:gdLst/>
              <a:ahLst/>
              <a:cxnLst/>
              <a:rect l="l" t="t" r="r" b="b"/>
              <a:pathLst>
                <a:path w="21457920" h="682752">
                  <a:moveTo>
                    <a:pt x="0" y="0"/>
                  </a:moveTo>
                  <a:lnTo>
                    <a:pt x="21457920" y="0"/>
                  </a:lnTo>
                  <a:lnTo>
                    <a:pt x="2145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2386" b="-56238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45792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B949E"/>
                  </a:solidFill>
                  <a:latin typeface="Cinzel"/>
                  <a:ea typeface="Cinzel"/>
                  <a:cs typeface="Cinzel"/>
                  <a:sym typeface="Cinzel"/>
                </a:rPr>
                <a:t>TVK's vote-to-seat conversion was highest — 34.9% of votes → 46.2% of seats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731520"/>
            <a:chOff x="0" y="0"/>
            <a:chExt cx="21457920" cy="975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975360"/>
            </a:xfrm>
            <a:custGeom>
              <a:avLst/>
              <a:gdLst/>
              <a:ahLst/>
              <a:cxnLst/>
              <a:rect l="l" t="t" r="r" b="b"/>
              <a:pathLst>
                <a:path w="21457920" h="97536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1599">
                  <a:solidFill>
                    <a:srgbClr val="3B82F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STORY  03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188720"/>
            <a:ext cx="16093440" cy="2923946"/>
            <a:chOff x="0" y="0"/>
            <a:chExt cx="21457920" cy="38985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3898595"/>
            </a:xfrm>
            <a:custGeom>
              <a:avLst/>
              <a:gdLst/>
              <a:ahLst/>
              <a:cxnLst/>
              <a:rect l="l" t="t" r="r" b="b"/>
              <a:pathLst>
                <a:path w="21457920" h="3898595">
                  <a:moveTo>
                    <a:pt x="0" y="0"/>
                  </a:moveTo>
                  <a:lnTo>
                    <a:pt x="21457920" y="0"/>
                  </a:lnTo>
                  <a:lnTo>
                    <a:pt x="21457920" y="3898595"/>
                  </a:lnTo>
                  <a:lnTo>
                    <a:pt x="0" y="38985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336" b="-541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457920" cy="38985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Winning got harder.</a:t>
              </a:r>
            </a:p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Average margin fell 27%.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4297680"/>
            <a:ext cx="5120640" cy="2926080"/>
            <a:chOff x="0" y="0"/>
            <a:chExt cx="6827520" cy="3901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27520" cy="3901440"/>
            </a:xfrm>
            <a:custGeom>
              <a:avLst/>
              <a:gdLst/>
              <a:ahLst/>
              <a:cxnLst/>
              <a:rect l="l" t="t" r="r" b="b"/>
              <a:pathLst>
                <a:path w="6827520" h="390144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4297680"/>
            <a:ext cx="5120640" cy="73152"/>
            <a:chOff x="0" y="0"/>
            <a:chExt cx="6827520" cy="975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27520" cy="97536"/>
            </a:xfrm>
            <a:custGeom>
              <a:avLst/>
              <a:gdLst/>
              <a:ahLst/>
              <a:cxnLst/>
              <a:rect l="l" t="t" r="r" b="b"/>
              <a:pathLst>
                <a:path w="6827520" h="97536">
                  <a:moveTo>
                    <a:pt x="0" y="0"/>
                  </a:moveTo>
                  <a:lnTo>
                    <a:pt x="6827520" y="0"/>
                  </a:lnTo>
                  <a:lnTo>
                    <a:pt x="6827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4572000"/>
            <a:ext cx="4754880" cy="1609344"/>
            <a:chOff x="0" y="0"/>
            <a:chExt cx="6339840" cy="21457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9" b="-756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6339840" cy="2136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3B82F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22,871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97280" y="6111850"/>
            <a:ext cx="475488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Avg winning margin</a:t>
            </a:r>
          </a:p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2021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83680" y="4297680"/>
            <a:ext cx="5120640" cy="2926080"/>
            <a:chOff x="0" y="0"/>
            <a:chExt cx="6827520" cy="3901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27520" cy="3901440"/>
            </a:xfrm>
            <a:custGeom>
              <a:avLst/>
              <a:gdLst/>
              <a:ahLst/>
              <a:cxnLst/>
              <a:rect l="l" t="t" r="r" b="b"/>
              <a:pathLst>
                <a:path w="6827520" h="390144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583680" y="4297680"/>
            <a:ext cx="5120640" cy="73152"/>
            <a:chOff x="0" y="0"/>
            <a:chExt cx="6827520" cy="97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27520" cy="97536"/>
            </a:xfrm>
            <a:custGeom>
              <a:avLst/>
              <a:gdLst/>
              <a:ahLst/>
              <a:cxnLst/>
              <a:rect l="l" t="t" r="r" b="b"/>
              <a:pathLst>
                <a:path w="6827520" h="97536">
                  <a:moveTo>
                    <a:pt x="0" y="0"/>
                  </a:moveTo>
                  <a:lnTo>
                    <a:pt x="6827520" y="0"/>
                  </a:lnTo>
                  <a:lnTo>
                    <a:pt x="6827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766560" y="4572000"/>
            <a:ext cx="4754880" cy="1609344"/>
            <a:chOff x="0" y="0"/>
            <a:chExt cx="6339840" cy="21457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9" b="-756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6339840" cy="2136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16,784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766560" y="6111850"/>
            <a:ext cx="475488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Avg winning margin</a:t>
            </a:r>
          </a:p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2026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52960" y="4297680"/>
            <a:ext cx="5120640" cy="2926080"/>
            <a:chOff x="0" y="0"/>
            <a:chExt cx="6827520" cy="39014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3901440"/>
            </a:xfrm>
            <a:custGeom>
              <a:avLst/>
              <a:gdLst/>
              <a:ahLst/>
              <a:cxnLst/>
              <a:rect l="l" t="t" r="r" b="b"/>
              <a:pathLst>
                <a:path w="6827520" h="390144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252960" y="4297680"/>
            <a:ext cx="5120640" cy="73152"/>
            <a:chOff x="0" y="0"/>
            <a:chExt cx="6827520" cy="975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97536"/>
            </a:xfrm>
            <a:custGeom>
              <a:avLst/>
              <a:gdLst/>
              <a:ahLst/>
              <a:cxnLst/>
              <a:rect l="l" t="t" r="r" b="b"/>
              <a:pathLst>
                <a:path w="6827520" h="97536">
                  <a:moveTo>
                    <a:pt x="0" y="0"/>
                  </a:moveTo>
                  <a:lnTo>
                    <a:pt x="6827520" y="0"/>
                  </a:lnTo>
                  <a:lnTo>
                    <a:pt x="68275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435840" y="4572000"/>
            <a:ext cx="4754880" cy="1609344"/>
            <a:chOff x="0" y="0"/>
            <a:chExt cx="6339840" cy="21457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69" b="-756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6339840" cy="2136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EF4444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−26.6%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435840" y="6111850"/>
            <a:ext cx="475488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8B949E"/>
                </a:solidFill>
                <a:latin typeface="Cinzel"/>
                <a:ea typeface="Cinzel"/>
                <a:cs typeface="Cinzel"/>
                <a:sym typeface="Cinzel"/>
              </a:rPr>
              <a:t>Change in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8B949E"/>
                </a:solidFill>
                <a:latin typeface="Cinzel"/>
                <a:ea typeface="Cinzel"/>
                <a:cs typeface="Cinzel"/>
                <a:sym typeface="Cinzel"/>
              </a:rPr>
              <a:t>avg margin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7406640"/>
            <a:ext cx="8046720" cy="2468880"/>
            <a:chOff x="0" y="0"/>
            <a:chExt cx="10728960" cy="3291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28960" cy="3291840"/>
            </a:xfrm>
            <a:custGeom>
              <a:avLst/>
              <a:gdLst/>
              <a:ahLst/>
              <a:cxnLst/>
              <a:rect l="l" t="t" r="r" b="b"/>
              <a:pathLst>
                <a:path w="10728960" h="3291840">
                  <a:moveTo>
                    <a:pt x="0" y="0"/>
                  </a:moveTo>
                  <a:lnTo>
                    <a:pt x="10728960" y="0"/>
                  </a:lnTo>
                  <a:lnTo>
                    <a:pt x="107289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14400" y="7406640"/>
            <a:ext cx="8046720" cy="73152"/>
            <a:chOff x="0" y="0"/>
            <a:chExt cx="10728960" cy="975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8960" cy="97536"/>
            </a:xfrm>
            <a:custGeom>
              <a:avLst/>
              <a:gdLst/>
              <a:ahLst/>
              <a:cxnLst/>
              <a:rect l="l" t="t" r="r" b="b"/>
              <a:pathLst>
                <a:path w="10728960" h="97536">
                  <a:moveTo>
                    <a:pt x="0" y="0"/>
                  </a:moveTo>
                  <a:lnTo>
                    <a:pt x="10728960" y="0"/>
                  </a:lnTo>
                  <a:lnTo>
                    <a:pt x="10728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AB308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097280" y="7680960"/>
            <a:ext cx="7680960" cy="1357884"/>
            <a:chOff x="0" y="0"/>
            <a:chExt cx="10241280" cy="18105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41280" cy="1810512"/>
            </a:xfrm>
            <a:custGeom>
              <a:avLst/>
              <a:gdLst/>
              <a:ahLst/>
              <a:cxnLst/>
              <a:rect l="l" t="t" r="r" b="b"/>
              <a:pathLst>
                <a:path w="10241280" h="1810512">
                  <a:moveTo>
                    <a:pt x="0" y="0"/>
                  </a:moveTo>
                  <a:lnTo>
                    <a:pt x="10241280" y="0"/>
                  </a:lnTo>
                  <a:lnTo>
                    <a:pt x="10241280" y="1810512"/>
                  </a:lnTo>
                  <a:lnTo>
                    <a:pt x="0" y="181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18" b="-6021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0241280" cy="1800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EAB308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64 seats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97280" y="8937346"/>
            <a:ext cx="76809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Winner got &lt; 35% of valid votes</a:t>
            </a:r>
          </a:p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(multi-cornered contests)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326880" y="7406640"/>
            <a:ext cx="8046720" cy="2468880"/>
            <a:chOff x="0" y="0"/>
            <a:chExt cx="10728960" cy="32918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728960" cy="3291840"/>
            </a:xfrm>
            <a:custGeom>
              <a:avLst/>
              <a:gdLst/>
              <a:ahLst/>
              <a:cxnLst/>
              <a:rect l="l" t="t" r="r" b="b"/>
              <a:pathLst>
                <a:path w="10728960" h="3291840">
                  <a:moveTo>
                    <a:pt x="0" y="0"/>
                  </a:moveTo>
                  <a:lnTo>
                    <a:pt x="10728960" y="0"/>
                  </a:lnTo>
                  <a:lnTo>
                    <a:pt x="107289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326880" y="7406640"/>
            <a:ext cx="8046720" cy="73152"/>
            <a:chOff x="0" y="0"/>
            <a:chExt cx="10728960" cy="9753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28960" cy="97536"/>
            </a:xfrm>
            <a:custGeom>
              <a:avLst/>
              <a:gdLst/>
              <a:ahLst/>
              <a:cxnLst/>
              <a:rect l="l" t="t" r="r" b="b"/>
              <a:pathLst>
                <a:path w="10728960" h="97536">
                  <a:moveTo>
                    <a:pt x="0" y="0"/>
                  </a:moveTo>
                  <a:lnTo>
                    <a:pt x="10728960" y="0"/>
                  </a:lnTo>
                  <a:lnTo>
                    <a:pt x="1072896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509760" y="7680960"/>
            <a:ext cx="7680960" cy="1357884"/>
            <a:chOff x="0" y="0"/>
            <a:chExt cx="10241280" cy="18105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41280" cy="1810512"/>
            </a:xfrm>
            <a:custGeom>
              <a:avLst/>
              <a:gdLst/>
              <a:ahLst/>
              <a:cxnLst/>
              <a:rect l="l" t="t" r="r" b="b"/>
              <a:pathLst>
                <a:path w="10241280" h="1810512">
                  <a:moveTo>
                    <a:pt x="0" y="0"/>
                  </a:moveTo>
                  <a:lnTo>
                    <a:pt x="10241280" y="0"/>
                  </a:lnTo>
                  <a:lnTo>
                    <a:pt x="10241280" y="1810512"/>
                  </a:lnTo>
                  <a:lnTo>
                    <a:pt x="0" y="1810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18" b="-6021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10241280" cy="1800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22C55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13 seats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509760" y="8937346"/>
            <a:ext cx="76809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Winner got &gt; 50% of valid votes</a:t>
            </a:r>
          </a:p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rPr>
              <a:t>(dominant wins)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97280" y="9838944"/>
            <a:ext cx="16093440" cy="402336"/>
            <a:chOff x="0" y="0"/>
            <a:chExt cx="21457920" cy="5364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457920" cy="536448"/>
            </a:xfrm>
            <a:custGeom>
              <a:avLst/>
              <a:gdLst/>
              <a:ahLst/>
              <a:cxnLst/>
              <a:rect l="l" t="t" r="r" b="b"/>
              <a:pathLst>
                <a:path w="21457920" h="536448">
                  <a:moveTo>
                    <a:pt x="0" y="0"/>
                  </a:moveTo>
                  <a:lnTo>
                    <a:pt x="21457920" y="0"/>
                  </a:lnTo>
                  <a:lnTo>
                    <a:pt x="2145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1457920" cy="536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444C56"/>
                  </a:solidFill>
                  <a:latin typeface="Cinzel"/>
                  <a:ea typeface="Cinzel"/>
                  <a:cs typeface="Cinzel"/>
                  <a:sym typeface="Cinzel"/>
                </a:rPr>
                <a:t>Source: ECI · Constituency-level vote totals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12064"/>
            <a:ext cx="16093440" cy="640080"/>
            <a:chOff x="0" y="0"/>
            <a:chExt cx="21457920" cy="853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909" b="-43990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spc="1000">
                  <a:solidFill>
                    <a:srgbClr val="3B82F6"/>
                  </a:solidFill>
                  <a:latin typeface="Cinzel"/>
                  <a:ea typeface="Cinzel"/>
                  <a:cs typeface="Cinzel"/>
                  <a:sym typeface="Cinzel"/>
                </a:rPr>
                <a:t>STORY  03  ·  THE MARGIN STORY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097280"/>
            <a:ext cx="16867710" cy="1188720"/>
            <a:chOff x="0" y="0"/>
            <a:chExt cx="22490279" cy="1584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90280" cy="1584960"/>
            </a:xfrm>
            <a:custGeom>
              <a:avLst/>
              <a:gdLst/>
              <a:ahLst/>
              <a:cxnLst/>
              <a:rect l="l" t="t" r="r" b="b"/>
              <a:pathLst>
                <a:path w="22490280" h="1584960">
                  <a:moveTo>
                    <a:pt x="0" y="0"/>
                  </a:moveTo>
                  <a:lnTo>
                    <a:pt x="22490280" y="0"/>
                  </a:lnTo>
                  <a:lnTo>
                    <a:pt x="22490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r="2421" b="-21979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2490279" cy="1584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20"/>
                </a:lnSpc>
              </a:pPr>
              <a:r>
                <a:rPr lang="en-US" sz="46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 three-party race compressed margins everywhere.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1520" y="822960"/>
            <a:ext cx="19751040" cy="969264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97280" y="9144000"/>
            <a:ext cx="16093440" cy="763981"/>
            <a:chOff x="0" y="0"/>
            <a:chExt cx="21457920" cy="10186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57920" cy="1018642"/>
            </a:xfrm>
            <a:custGeom>
              <a:avLst/>
              <a:gdLst/>
              <a:ahLst/>
              <a:cxnLst/>
              <a:rect l="l" t="t" r="r" b="b"/>
              <a:pathLst>
                <a:path w="21457920" h="1018642">
                  <a:moveTo>
                    <a:pt x="0" y="0"/>
                  </a:moveTo>
                  <a:lnTo>
                    <a:pt x="21457920" y="0"/>
                  </a:lnTo>
                  <a:lnTo>
                    <a:pt x="21457920" y="1018642"/>
                  </a:lnTo>
                  <a:lnTo>
                    <a:pt x="0" y="1018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2581" b="-35833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1457920" cy="1018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In 64 of 234 seats, the winner crossed the line with less than 35% of the vote — a sign of how much TVK split existing coalitions.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F1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7280" y="640080"/>
            <a:ext cx="16093440" cy="694944"/>
            <a:chOff x="0" y="0"/>
            <a:chExt cx="21457920" cy="9265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57920" cy="926592"/>
            </a:xfrm>
            <a:custGeom>
              <a:avLst/>
              <a:gdLst/>
              <a:ahLst/>
              <a:cxnLst/>
              <a:rect l="l" t="t" r="r" b="b"/>
              <a:pathLst>
                <a:path w="21457920" h="926592">
                  <a:moveTo>
                    <a:pt x="0" y="0"/>
                  </a:moveTo>
                  <a:lnTo>
                    <a:pt x="21457920" y="0"/>
                  </a:lnTo>
                  <a:lnTo>
                    <a:pt x="21457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1232" b="-40123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45792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400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EDITORIAL RECOMMENDATION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7280" y="1280160"/>
            <a:ext cx="16093440" cy="2560320"/>
            <a:chOff x="0" y="0"/>
            <a:chExt cx="21457920" cy="34137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57920" cy="3413760"/>
            </a:xfrm>
            <a:custGeom>
              <a:avLst/>
              <a:gdLst/>
              <a:ahLst/>
              <a:cxnLst/>
              <a:rect l="l" t="t" r="r" b="b"/>
              <a:pathLst>
                <a:path w="21457920" h="3413760">
                  <a:moveTo>
                    <a:pt x="0" y="0"/>
                  </a:moveTo>
                  <a:lnTo>
                    <a:pt x="21457920" y="0"/>
                  </a:lnTo>
                  <a:lnTo>
                    <a:pt x="214579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477" b="-7247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1457920" cy="3404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For AtliQ Media: structure</a:t>
              </a:r>
            </a:p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the show around three acts.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7280" y="4023360"/>
            <a:ext cx="109728" cy="1554480"/>
            <a:chOff x="0" y="0"/>
            <a:chExt cx="146304" cy="2072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80160" y="4023360"/>
            <a:ext cx="15727680" cy="1554480"/>
            <a:chOff x="0" y="0"/>
            <a:chExt cx="20970240" cy="2072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45920" y="4114800"/>
            <a:ext cx="14264640" cy="585216"/>
            <a:chOff x="0" y="0"/>
            <a:chExt cx="1901952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19520" cy="780288"/>
            </a:xfrm>
            <a:custGeom>
              <a:avLst/>
              <a:gdLst/>
              <a:ahLst/>
              <a:cxnLst/>
              <a:rect l="l" t="t" r="r" b="b"/>
              <a:pathLst>
                <a:path w="19019520" h="780288">
                  <a:moveTo>
                    <a:pt x="0" y="0"/>
                  </a:moveTo>
                  <a:lnTo>
                    <a:pt x="19019520" y="0"/>
                  </a:lnTo>
                  <a:lnTo>
                    <a:pt x="1901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947" b="-42494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90195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9731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ACT 1  ·  The Map Redrawn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5920" y="4718304"/>
            <a:ext cx="14264640" cy="721462"/>
            <a:chOff x="0" y="0"/>
            <a:chExt cx="19019520" cy="9619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019520" cy="961949"/>
            </a:xfrm>
            <a:custGeom>
              <a:avLst/>
              <a:gdLst/>
              <a:ahLst/>
              <a:cxnLst/>
              <a:rect l="l" t="t" r="r" b="b"/>
              <a:pathLst>
                <a:path w="19019520" h="961949">
                  <a:moveTo>
                    <a:pt x="0" y="0"/>
                  </a:moveTo>
                  <a:lnTo>
                    <a:pt x="19019520" y="0"/>
                  </a:lnTo>
                  <a:lnTo>
                    <a:pt x="19019520" y="961949"/>
                  </a:lnTo>
                  <a:lnTo>
                    <a:pt x="0" y="961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093" b="-33341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9019520" cy="97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Open with the flip visual. 163/234 seats changed hands. It's the biggest hook — a viewer who's lived in TN for 30 years has never seen 70% of the map flip.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5943600"/>
            <a:ext cx="109728" cy="1554480"/>
            <a:chOff x="0" y="0"/>
            <a:chExt cx="146304" cy="2072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80160" y="5943600"/>
            <a:ext cx="15727680" cy="1554480"/>
            <a:chOff x="0" y="0"/>
            <a:chExt cx="20970240" cy="2072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645920" y="6035040"/>
            <a:ext cx="14264640" cy="585216"/>
            <a:chOff x="0" y="0"/>
            <a:chExt cx="19019520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019520" cy="780288"/>
            </a:xfrm>
            <a:custGeom>
              <a:avLst/>
              <a:gdLst/>
              <a:ahLst/>
              <a:cxnLst/>
              <a:rect l="l" t="t" r="r" b="b"/>
              <a:pathLst>
                <a:path w="19019520" h="780288">
                  <a:moveTo>
                    <a:pt x="0" y="0"/>
                  </a:moveTo>
                  <a:lnTo>
                    <a:pt x="19019520" y="0"/>
                  </a:lnTo>
                  <a:lnTo>
                    <a:pt x="1901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947" b="-42494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90195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4B8A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ACT 2  ·  The New Vote Math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45920" y="6638544"/>
            <a:ext cx="14264640" cy="721462"/>
            <a:chOff x="0" y="0"/>
            <a:chExt cx="19019520" cy="9619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019520" cy="961949"/>
            </a:xfrm>
            <a:custGeom>
              <a:avLst/>
              <a:gdLst/>
              <a:ahLst/>
              <a:cxnLst/>
              <a:rect l="l" t="t" r="r" b="b"/>
              <a:pathLst>
                <a:path w="19019520" h="961949">
                  <a:moveTo>
                    <a:pt x="0" y="0"/>
                  </a:moveTo>
                  <a:lnTo>
                    <a:pt x="19019520" y="0"/>
                  </a:lnTo>
                  <a:lnTo>
                    <a:pt x="19019520" y="961949"/>
                  </a:lnTo>
                  <a:lnTo>
                    <a:pt x="0" y="961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093" b="-33341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9019520" cy="97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Show TVK at 34.9% — higher than DMK in 2021. The split-vote story in 64 seats explains why vote share ≠ seat dominance.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7280" y="7863840"/>
            <a:ext cx="109728" cy="1554480"/>
            <a:chOff x="0" y="0"/>
            <a:chExt cx="146304" cy="2072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6304" cy="2072640"/>
            </a:xfrm>
            <a:custGeom>
              <a:avLst/>
              <a:gdLst/>
              <a:ahLst/>
              <a:cxnLst/>
              <a:rect l="l" t="t" r="r" b="b"/>
              <a:pathLst>
                <a:path w="146304" h="2072640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80160" y="7863840"/>
            <a:ext cx="15727680" cy="1554480"/>
            <a:chOff x="0" y="0"/>
            <a:chExt cx="20970240" cy="2072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970239" cy="2072640"/>
            </a:xfrm>
            <a:custGeom>
              <a:avLst/>
              <a:gdLst/>
              <a:ahLst/>
              <a:cxnLst/>
              <a:rect l="l" t="t" r="r" b="b"/>
              <a:pathLst>
                <a:path w="20970239" h="2072640">
                  <a:moveTo>
                    <a:pt x="0" y="0"/>
                  </a:moveTo>
                  <a:lnTo>
                    <a:pt x="20970239" y="0"/>
                  </a:lnTo>
                  <a:lnTo>
                    <a:pt x="209702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45920" y="7955280"/>
            <a:ext cx="14264640" cy="585216"/>
            <a:chOff x="0" y="0"/>
            <a:chExt cx="19019520" cy="7802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019520" cy="780288"/>
            </a:xfrm>
            <a:custGeom>
              <a:avLst/>
              <a:gdLst/>
              <a:ahLst/>
              <a:cxnLst/>
              <a:rect l="l" t="t" r="r" b="b"/>
              <a:pathLst>
                <a:path w="19019520" h="780288">
                  <a:moveTo>
                    <a:pt x="0" y="0"/>
                  </a:moveTo>
                  <a:lnTo>
                    <a:pt x="19019520" y="0"/>
                  </a:lnTo>
                  <a:lnTo>
                    <a:pt x="19019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947" b="-42494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90195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3B82F6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ACT 3  ·  The Closer Contest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5920" y="8558784"/>
            <a:ext cx="14264640" cy="721462"/>
            <a:chOff x="0" y="0"/>
            <a:chExt cx="19019520" cy="96194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19520" cy="961949"/>
            </a:xfrm>
            <a:custGeom>
              <a:avLst/>
              <a:gdLst/>
              <a:ahLst/>
              <a:cxnLst/>
              <a:rect l="l" t="t" r="r" b="b"/>
              <a:pathLst>
                <a:path w="19019520" h="961949">
                  <a:moveTo>
                    <a:pt x="0" y="0"/>
                  </a:moveTo>
                  <a:lnTo>
                    <a:pt x="19019520" y="0"/>
                  </a:lnTo>
                  <a:lnTo>
                    <a:pt x="19019520" y="961949"/>
                  </a:lnTo>
                  <a:lnTo>
                    <a:pt x="0" y="961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093" b="-33341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9019520" cy="971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End with the margin story. Margins fell 27%. This election was mathematically tighter than 2021 despite appearing decisive on the seat count.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694944"/>
            <a:chOff x="0" y="0"/>
            <a:chExt cx="21457920" cy="926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926592"/>
            </a:xfrm>
            <a:custGeom>
              <a:avLst/>
              <a:gdLst/>
              <a:ahLst/>
              <a:cxnLst/>
              <a:rect l="l" t="t" r="r" b="b"/>
              <a:pathLst>
                <a:path w="21457920" h="926592">
                  <a:moveTo>
                    <a:pt x="0" y="0"/>
                  </a:moveTo>
                  <a:lnTo>
                    <a:pt x="21457920" y="0"/>
                  </a:lnTo>
                  <a:lnTo>
                    <a:pt x="21457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1232" b="-40123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45792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1400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HONESTY ABOUT LIMITATIONS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316736"/>
            <a:ext cx="16093440" cy="1942948"/>
            <a:chOff x="0" y="0"/>
            <a:chExt cx="21457920" cy="25905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2590597"/>
            </a:xfrm>
            <a:custGeom>
              <a:avLst/>
              <a:gdLst/>
              <a:ahLst/>
              <a:cxnLst/>
              <a:rect l="l" t="t" r="r" b="b"/>
              <a:pathLst>
                <a:path w="21457920" h="2590597">
                  <a:moveTo>
                    <a:pt x="0" y="0"/>
                  </a:moveTo>
                  <a:lnTo>
                    <a:pt x="21457920" y="0"/>
                  </a:lnTo>
                  <a:lnTo>
                    <a:pt x="21457920" y="2590597"/>
                  </a:lnTo>
                  <a:lnTo>
                    <a:pt x="0" y="2590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803" b="-9198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457920" cy="2600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0F6FC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What this data can — and cannot — tell you.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834640"/>
            <a:ext cx="7863840" cy="6400800"/>
            <a:chOff x="0" y="0"/>
            <a:chExt cx="10485120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85120" cy="8534400"/>
            </a:xfrm>
            <a:custGeom>
              <a:avLst/>
              <a:gdLst/>
              <a:ahLst/>
              <a:cxnLst/>
              <a:rect l="l" t="t" r="r" b="b"/>
              <a:pathLst>
                <a:path w="10485120" h="853440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2834640"/>
            <a:ext cx="7863840" cy="73152"/>
            <a:chOff x="0" y="0"/>
            <a:chExt cx="10485120" cy="975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5120" cy="97536"/>
            </a:xfrm>
            <a:custGeom>
              <a:avLst/>
              <a:gdLst/>
              <a:ahLst/>
              <a:cxnLst/>
              <a:rect l="l" t="t" r="r" b="b"/>
              <a:pathLst>
                <a:path w="10485120" h="97536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88720" y="2926080"/>
            <a:ext cx="7315200" cy="731520"/>
            <a:chOff x="0" y="0"/>
            <a:chExt cx="975360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53600" cy="975360"/>
            </a:xfrm>
            <a:custGeom>
              <a:avLst/>
              <a:gdLst/>
              <a:ahLst/>
              <a:cxnLst/>
              <a:rect l="l" t="t" r="r" b="b"/>
              <a:pathLst>
                <a:path w="9753600" h="97536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753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2C55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✓  Data CAN answer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8720" y="3840480"/>
            <a:ext cx="7132320" cy="5120640"/>
            <a:chOff x="0" y="0"/>
            <a:chExt cx="9509760" cy="6827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9760" cy="6827520"/>
            </a:xfrm>
            <a:custGeom>
              <a:avLst/>
              <a:gdLst/>
              <a:ahLst/>
              <a:cxnLst/>
              <a:rect l="l" t="t" r="r" b="b"/>
              <a:pathLst>
                <a:path w="9509760" h="6827520">
                  <a:moveTo>
                    <a:pt x="0" y="0"/>
                  </a:moveTo>
                  <a:lnTo>
                    <a:pt x="9509760" y="0"/>
                  </a:lnTo>
                  <a:lnTo>
                    <a:pt x="950976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115" r="-4211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9509760" cy="6903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Count seats won and lost by party, 2021 vs 2026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Measure vote share and its change at state and region level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Calculate winning margins and how they shifted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Identify which constituency categories (SC/ST/GEN) moved differently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09760" y="2834640"/>
            <a:ext cx="7863840" cy="6400800"/>
            <a:chOff x="0" y="0"/>
            <a:chExt cx="10485120" cy="853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85120" cy="8534400"/>
            </a:xfrm>
            <a:custGeom>
              <a:avLst/>
              <a:gdLst/>
              <a:ahLst/>
              <a:cxnLst/>
              <a:rect l="l" t="t" r="r" b="b"/>
              <a:pathLst>
                <a:path w="10485120" h="853440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509760" y="2834640"/>
            <a:ext cx="7863840" cy="73152"/>
            <a:chOff x="0" y="0"/>
            <a:chExt cx="10485120" cy="975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85120" cy="97536"/>
            </a:xfrm>
            <a:custGeom>
              <a:avLst/>
              <a:gdLst/>
              <a:ahLst/>
              <a:cxnLst/>
              <a:rect l="l" t="t" r="r" b="b"/>
              <a:pathLst>
                <a:path w="10485120" h="97536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784080" y="2926080"/>
            <a:ext cx="7315200" cy="731520"/>
            <a:chOff x="0" y="0"/>
            <a:chExt cx="9753600" cy="9753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0" cy="975360"/>
            </a:xfrm>
            <a:custGeom>
              <a:avLst/>
              <a:gdLst/>
              <a:ahLst/>
              <a:cxnLst/>
              <a:rect l="l" t="t" r="r" b="b"/>
              <a:pathLst>
                <a:path w="9753600" h="97536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75360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EF4444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✗  Data CANNOT answer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84080" y="3840480"/>
            <a:ext cx="7132320" cy="5120640"/>
            <a:chOff x="0" y="0"/>
            <a:chExt cx="9509760" cy="6827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509760" cy="6827520"/>
            </a:xfrm>
            <a:custGeom>
              <a:avLst/>
              <a:gdLst/>
              <a:ahLst/>
              <a:cxnLst/>
              <a:rect l="l" t="t" r="r" b="b"/>
              <a:pathLst>
                <a:path w="9509760" h="6827520">
                  <a:moveTo>
                    <a:pt x="0" y="0"/>
                  </a:moveTo>
                  <a:lnTo>
                    <a:pt x="9509760" y="0"/>
                  </a:lnTo>
                  <a:lnTo>
                    <a:pt x="950976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115" r="-4211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9509760" cy="6903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Explain why any party won or lost (causal claims require survey data)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Attribute vote movement to specific demographic groups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Predict future elections from this data alone</a:t>
              </a:r>
            </a:p>
            <a:p>
              <a:pPr algn="l">
                <a:lnSpc>
                  <a:spcPts val="3588"/>
                </a:lnSpc>
              </a:pPr>
              <a:endParaRPr lang="en-US" sz="2300" b="1">
                <a:solidFill>
                  <a:srgbClr val="8B949E"/>
                </a:solidFill>
                <a:latin typeface="Cinzel Bold"/>
                <a:ea typeface="Cinzel Bold"/>
                <a:cs typeface="Cinzel Bold"/>
                <a:sym typeface="Cinzel Bold"/>
              </a:endParaRPr>
            </a:p>
            <a:p>
              <a:pPr algn="l">
                <a:lnSpc>
                  <a:spcPts val="3588"/>
                </a:lnSpc>
              </a:pPr>
              <a:r>
                <a:rPr lang="en-US" sz="2300" b="1">
                  <a:solidFill>
                    <a:srgbClr val="8B949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Verify 2026 turnout figures (intentionally excluded from dataset)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97280" y="9546336"/>
            <a:ext cx="16093440" cy="457200"/>
            <a:chOff x="0" y="0"/>
            <a:chExt cx="21457920" cy="609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145792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444C56"/>
                  </a:solidFill>
                  <a:latin typeface="Cinzel"/>
                  <a:ea typeface="Cinzel"/>
                  <a:cs typeface="Cinzel"/>
                  <a:sym typeface="Cinzel"/>
                </a:rPr>
                <a:t>Non-partisan analysis · No leaders, symbols, or opinions · Codebasics Resume Project Challenge · Public ECI data only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Custom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Cinzel Bold</vt:lpstr>
      <vt:lpstr>Cinzel Decorative Bold</vt:lpstr>
      <vt:lpstr>Calibri</vt:lpstr>
      <vt:lpstr>Cinzel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tn_election_deck (1).pptx</dc:title>
  <cp:lastModifiedBy>Priya Methre</cp:lastModifiedBy>
  <cp:revision>2</cp:revision>
  <dcterms:created xsi:type="dcterms:W3CDTF">2006-08-16T00:00:00Z</dcterms:created>
  <dcterms:modified xsi:type="dcterms:W3CDTF">2026-05-31T06:05:25Z</dcterms:modified>
  <dc:identifier>DAHLJdZBZK8</dc:identifier>
</cp:coreProperties>
</file>